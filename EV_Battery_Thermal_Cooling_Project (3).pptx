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media/image4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2" r:id="rId2"/>
  </p:sldMasterIdLst>
  <p:notesMasterIdLst>
    <p:notesMasterId r:id="rId19"/>
  </p:notesMasterIdLst>
  <p:sldIdLst>
    <p:sldId id="526" r:id="rId3"/>
    <p:sldId id="575" r:id="rId4"/>
    <p:sldId id="576" r:id="rId5"/>
    <p:sldId id="577" r:id="rId6"/>
    <p:sldId id="578" r:id="rId7"/>
    <p:sldId id="579" r:id="rId8"/>
    <p:sldId id="580" r:id="rId9"/>
    <p:sldId id="581" r:id="rId10"/>
    <p:sldId id="586" r:id="rId11"/>
    <p:sldId id="582" r:id="rId12"/>
    <p:sldId id="587" r:id="rId13"/>
    <p:sldId id="588" r:id="rId14"/>
    <p:sldId id="589" r:id="rId15"/>
    <p:sldId id="583" r:id="rId16"/>
    <p:sldId id="584" r:id="rId17"/>
    <p:sldId id="558" r:id="rId18"/>
  </p:sldIdLst>
  <p:sldSz cx="12192000" cy="6858000"/>
  <p:notesSz cx="6858000" cy="9144000"/>
  <p:custDataLst>
    <p:tags r:id="rId2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72" userDrawn="1">
          <p15:clr>
            <a:srgbClr val="A4A3A4"/>
          </p15:clr>
        </p15:guide>
        <p15:guide id="2" pos="225" userDrawn="1">
          <p15:clr>
            <a:srgbClr val="A4A3A4"/>
          </p15:clr>
        </p15:guide>
        <p15:guide id="3" orient="horz" pos="982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4B9636B-3D94-EB3D-7CF5-3935240F8C9F}" name="Ramar Bose" initials="RB" userId="S::ramar@edunetfoundation.org::ae727035-80f4-46a2-9b41-59f778a1b49a" providerId="AD"/>
  <p188:author id="{0810177C-6EA3-6186-7649-8D6D6D52A6A9}" name="Garima Mahendru" initials="GM" userId="S::gmahendru@edunetfoundation.org::096543be-f831-49f1-b7d3-23568e7a55d4" providerId="AD"/>
  <p188:author id="{E03327A5-5EEC-D76F-0947-6E3B989BA983}" name="Mohd Kaisar" initials="MK" userId="S::kaisar@edunetfoundation.org::9c081128-0687-4cc5-906f-c826450d4c39" providerId="AD"/>
  <p188:author id="{71631FAC-AC08-8817-355E-DDD25DC673CF}" name="Prita Pradhan" initials="PP" userId="S::prita@edunetfoundation.org::3cf5e9ae-a1ce-4d16-a2c2-46a0ba8102bb" providerId="AD"/>
  <p188:author id="{D0A8B7BB-36D1-777B-64C8-9A30C894A727}" name="Rashmi Mishra" initials="RM" userId="S::rmishra@edunetfoundation.org::6469e6c3-66fa-4f4f-9c10-a71ac4161bf2" providerId="AD"/>
  <p188:author id="{6C0DB0E9-B32A-9F23-3DA3-A439C27D96D2}" name="Sagar Chetan Mehta" initials="SM" userId="S::scmehta@edunetfoundation.org::ddaf8de6-076e-4574-ada4-319f72b03244" providerId="AD"/>
  <p188:author id="{1BCC0DF1-20A6-9F0E-4F8D-B350BE78BCCC}" name="Pravin Prajapati" initials="PP" userId="S::pravin@edunetfoundation.org::9f0ce95f-5aee-43b0-8285-2e8ab565fda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C6AE"/>
    <a:srgbClr val="FDEC99"/>
    <a:srgbClr val="FEF5CA"/>
    <a:srgbClr val="D1E0F7"/>
    <a:srgbClr val="56E1E3"/>
    <a:srgbClr val="FFCC00"/>
    <a:srgbClr val="3779DB"/>
    <a:srgbClr val="ED1C24"/>
    <a:srgbClr val="FFD500"/>
    <a:srgbClr val="2032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89" d="100"/>
          <a:sy n="89" d="100"/>
        </p:scale>
        <p:origin x="437" y="-211"/>
      </p:cViewPr>
      <p:guideLst>
        <p:guide orient="horz" pos="672"/>
        <p:guide pos="225"/>
        <p:guide orient="horz" pos="98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notesMaster" Target="notesMasters/notesMaster1.xml"/><Relationship Id="rId20" Type="http://schemas.openxmlformats.org/officeDocument/2006/relationships/tags" Target="tags/tag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microsoft.com/office/2018/10/relationships/authors" Target="author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400" b="1">
                <a:solidFill>
                  <a:srgbClr val="0B3C5D"/>
                </a:solidFill>
                <a:latin typeface="Calibri"/>
              </a:rPr>
              <a:t>Dynamic city / highway load current I(t), two 75 s cycles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 current</c:v>
                </c:pt>
              </c:strCache>
            </c:strRef>
          </c:tx>
          <c:spPr>
            <a:ln w="28575">
              <a:solidFill>
                <a:srgbClr val="E8710A"/>
              </a:solidFill>
            </a:ln>
          </c:spPr>
          <c:marker>
            <c:symbol val="none"/>
          </c:marker>
          <c:xVal>
            <c:numRef>
              <c:f>Sheet1!$A$2:$A$152</c:f>
              <c:numCache>
                <c:formatCode>General</c:formatCode>
                <c:ptCount val="15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</c:numCache>
            </c:numRef>
          </c:xVal>
          <c:yVal>
            <c:numRef>
              <c:f>Sheet1!$B$2:$B$152</c:f>
              <c:numCache>
                <c:formatCode>General</c:formatCode>
                <c:ptCount val="151"/>
                <c:pt idx="0">
                  <c:v>0.2</c:v>
                </c:pt>
                <c:pt idx="1">
                  <c:v>0.2</c:v>
                </c:pt>
                <c:pt idx="2">
                  <c:v>0.2</c:v>
                </c:pt>
                <c:pt idx="3">
                  <c:v>0.2</c:v>
                </c:pt>
                <c:pt idx="4">
                  <c:v>0.2</c:v>
                </c:pt>
                <c:pt idx="5">
                  <c:v>0.2</c:v>
                </c:pt>
                <c:pt idx="6">
                  <c:v>0.2</c:v>
                </c:pt>
                <c:pt idx="7">
                  <c:v>0.2</c:v>
                </c:pt>
                <c:pt idx="8">
                  <c:v>0.2</c:v>
                </c:pt>
                <c:pt idx="9">
                  <c:v>0.2</c:v>
                </c:pt>
                <c:pt idx="10">
                  <c:v>4.989</c:v>
                </c:pt>
                <c:pt idx="11">
                  <c:v>4.585</c:v>
                </c:pt>
                <c:pt idx="12">
                  <c:v>3.826</c:v>
                </c:pt>
                <c:pt idx="13">
                  <c:v>3.172</c:v>
                </c:pt>
                <c:pt idx="14">
                  <c:v>3.021</c:v>
                </c:pt>
                <c:pt idx="15">
                  <c:v>3.463</c:v>
                </c:pt>
                <c:pt idx="16">
                  <c:v>4.232</c:v>
                </c:pt>
                <c:pt idx="17">
                  <c:v>4.859</c:v>
                </c:pt>
                <c:pt idx="18">
                  <c:v>4.966</c:v>
                </c:pt>
                <c:pt idx="19">
                  <c:v>4.486</c:v>
                </c:pt>
                <c:pt idx="20">
                  <c:v>3.712</c:v>
                </c:pt>
                <c:pt idx="21">
                  <c:v>3.112</c:v>
                </c:pt>
                <c:pt idx="22">
                  <c:v>3.051</c:v>
                </c:pt>
                <c:pt idx="23">
                  <c:v>3.565</c:v>
                </c:pt>
                <c:pt idx="24">
                  <c:v>4.343</c:v>
                </c:pt>
                <c:pt idx="25">
                  <c:v>9.14</c:v>
                </c:pt>
                <c:pt idx="26">
                  <c:v>8.43</c:v>
                </c:pt>
                <c:pt idx="27">
                  <c:v>8.048</c:v>
                </c:pt>
                <c:pt idx="28">
                  <c:v>8.052</c:v>
                </c:pt>
                <c:pt idx="29">
                  <c:v>8.443</c:v>
                </c:pt>
                <c:pt idx="30">
                  <c:v>9.159</c:v>
                </c:pt>
                <c:pt idx="31">
                  <c:v>10.086</c:v>
                </c:pt>
                <c:pt idx="32">
                  <c:v>11.079</c:v>
                </c:pt>
                <c:pt idx="33">
                  <c:v>11.98</c:v>
                </c:pt>
                <c:pt idx="34">
                  <c:v>12.648</c:v>
                </c:pt>
                <c:pt idx="35">
                  <c:v>12.977</c:v>
                </c:pt>
                <c:pt idx="36">
                  <c:v>12.914</c:v>
                </c:pt>
                <c:pt idx="37">
                  <c:v>12.471</c:v>
                </c:pt>
                <c:pt idx="38">
                  <c:v>11.716</c:v>
                </c:pt>
                <c:pt idx="39">
                  <c:v>10.769</c:v>
                </c:pt>
                <c:pt idx="40">
                  <c:v>9.78</c:v>
                </c:pt>
                <c:pt idx="41">
                  <c:v>8.905</c:v>
                </c:pt>
                <c:pt idx="42">
                  <c:v>8.281</c:v>
                </c:pt>
                <c:pt idx="43">
                  <c:v>8.008</c:v>
                </c:pt>
                <c:pt idx="44">
                  <c:v>8.128</c:v>
                </c:pt>
                <c:pt idx="45">
                  <c:v>-2.5</c:v>
                </c:pt>
                <c:pt idx="46">
                  <c:v>-2.5</c:v>
                </c:pt>
                <c:pt idx="47">
                  <c:v>-2.5</c:v>
                </c:pt>
                <c:pt idx="48">
                  <c:v>-2.5</c:v>
                </c:pt>
                <c:pt idx="49">
                  <c:v>-2.5</c:v>
                </c:pt>
                <c:pt idx="50">
                  <c:v>-2.5</c:v>
                </c:pt>
                <c:pt idx="51">
                  <c:v>-2.5</c:v>
                </c:pt>
                <c:pt idx="52">
                  <c:v>-2.5</c:v>
                </c:pt>
                <c:pt idx="53">
                  <c:v>-2.5</c:v>
                </c:pt>
                <c:pt idx="54">
                  <c:v>-2.5</c:v>
                </c:pt>
                <c:pt idx="55">
                  <c:v>3.5</c:v>
                </c:pt>
                <c:pt idx="56">
                  <c:v>3.5</c:v>
                </c:pt>
                <c:pt idx="57">
                  <c:v>3.5</c:v>
                </c:pt>
                <c:pt idx="58">
                  <c:v>3.5</c:v>
                </c:pt>
                <c:pt idx="59">
                  <c:v>3.5</c:v>
                </c:pt>
                <c:pt idx="60">
                  <c:v>3.5</c:v>
                </c:pt>
                <c:pt idx="61">
                  <c:v>3.5</c:v>
                </c:pt>
                <c:pt idx="62">
                  <c:v>3.5</c:v>
                </c:pt>
                <c:pt idx="63">
                  <c:v>3.5</c:v>
                </c:pt>
                <c:pt idx="64">
                  <c:v>3.5</c:v>
                </c:pt>
                <c:pt idx="65">
                  <c:v>0.5</c:v>
                </c:pt>
                <c:pt idx="66">
                  <c:v>0.5</c:v>
                </c:pt>
                <c:pt idx="67">
                  <c:v>0.5</c:v>
                </c:pt>
                <c:pt idx="68">
                  <c:v>0.5</c:v>
                </c:pt>
                <c:pt idx="69">
                  <c:v>0.5</c:v>
                </c:pt>
                <c:pt idx="70">
                  <c:v>0.5</c:v>
                </c:pt>
                <c:pt idx="71">
                  <c:v>0.5</c:v>
                </c:pt>
                <c:pt idx="72">
                  <c:v>0.5</c:v>
                </c:pt>
                <c:pt idx="73">
                  <c:v>0.5</c:v>
                </c:pt>
                <c:pt idx="74">
                  <c:v>0.5</c:v>
                </c:pt>
                <c:pt idx="75">
                  <c:v>0.2</c:v>
                </c:pt>
                <c:pt idx="76">
                  <c:v>0.2</c:v>
                </c:pt>
                <c:pt idx="77">
                  <c:v>0.2</c:v>
                </c:pt>
                <c:pt idx="78">
                  <c:v>0.2</c:v>
                </c:pt>
                <c:pt idx="79">
                  <c:v>0.2</c:v>
                </c:pt>
                <c:pt idx="80">
                  <c:v>0.2</c:v>
                </c:pt>
                <c:pt idx="81">
                  <c:v>0.2</c:v>
                </c:pt>
                <c:pt idx="82">
                  <c:v>0.2</c:v>
                </c:pt>
                <c:pt idx="83">
                  <c:v>0.2</c:v>
                </c:pt>
                <c:pt idx="84">
                  <c:v>0.2</c:v>
                </c:pt>
                <c:pt idx="85">
                  <c:v>3.102</c:v>
                </c:pt>
                <c:pt idx="86">
                  <c:v>3.69</c:v>
                </c:pt>
                <c:pt idx="87">
                  <c:v>4.466</c:v>
                </c:pt>
                <c:pt idx="88">
                  <c:v>4.959</c:v>
                </c:pt>
                <c:pt idx="89">
                  <c:v>4.871</c:v>
                </c:pt>
                <c:pt idx="90">
                  <c:v>4.254</c:v>
                </c:pt>
                <c:pt idx="91">
                  <c:v>3.483</c:v>
                </c:pt>
                <c:pt idx="92">
                  <c:v>3.026</c:v>
                </c:pt>
                <c:pt idx="93">
                  <c:v>3.159</c:v>
                </c:pt>
                <c:pt idx="94">
                  <c:v>3.803</c:v>
                </c:pt>
                <c:pt idx="95">
                  <c:v>4.566</c:v>
                </c:pt>
                <c:pt idx="96">
                  <c:v>4.986</c:v>
                </c:pt>
                <c:pt idx="97">
                  <c:v>4.807</c:v>
                </c:pt>
                <c:pt idx="98">
                  <c:v>4.139</c:v>
                </c:pt>
                <c:pt idx="99">
                  <c:v>3.387</c:v>
                </c:pt>
                <c:pt idx="100">
                  <c:v>12.363</c:v>
                </c:pt>
                <c:pt idx="101">
                  <c:v>11.566</c:v>
                </c:pt>
                <c:pt idx="102">
                  <c:v>10.602</c:v>
                </c:pt>
                <c:pt idx="103">
                  <c:v>9.621</c:v>
                </c:pt>
                <c:pt idx="104">
                  <c:v>8.779</c:v>
                </c:pt>
                <c:pt idx="105">
                  <c:v>8.209</c:v>
                </c:pt>
                <c:pt idx="106">
                  <c:v>8.0</c:v>
                </c:pt>
                <c:pt idx="107">
                  <c:v>8.186</c:v>
                </c:pt>
                <c:pt idx="108">
                  <c:v>8.738</c:v>
                </c:pt>
                <c:pt idx="109">
                  <c:v>9.567</c:v>
                </c:pt>
                <c:pt idx="110">
                  <c:v>10.544</c:v>
                </c:pt>
                <c:pt idx="111">
                  <c:v>11.514</c:v>
                </c:pt>
                <c:pt idx="112">
                  <c:v>12.324</c:v>
                </c:pt>
                <c:pt idx="113">
                  <c:v>12.846</c:v>
                </c:pt>
                <c:pt idx="114">
                  <c:v>12.997</c:v>
                </c:pt>
                <c:pt idx="115">
                  <c:v>12.754</c:v>
                </c:pt>
                <c:pt idx="116">
                  <c:v>12.156</c:v>
                </c:pt>
                <c:pt idx="117">
                  <c:v>11.296</c:v>
                </c:pt>
                <c:pt idx="118">
                  <c:v>10.31</c:v>
                </c:pt>
                <c:pt idx="119">
                  <c:v>9.354</c:v>
                </c:pt>
                <c:pt idx="120">
                  <c:v>-2.5</c:v>
                </c:pt>
                <c:pt idx="121">
                  <c:v>-2.5</c:v>
                </c:pt>
                <c:pt idx="122">
                  <c:v>-2.5</c:v>
                </c:pt>
                <c:pt idx="123">
                  <c:v>-2.5</c:v>
                </c:pt>
                <c:pt idx="124">
                  <c:v>-2.5</c:v>
                </c:pt>
                <c:pt idx="125">
                  <c:v>-2.5</c:v>
                </c:pt>
                <c:pt idx="126">
                  <c:v>-2.5</c:v>
                </c:pt>
                <c:pt idx="127">
                  <c:v>-2.5</c:v>
                </c:pt>
                <c:pt idx="128">
                  <c:v>-2.5</c:v>
                </c:pt>
                <c:pt idx="129">
                  <c:v>-2.5</c:v>
                </c:pt>
                <c:pt idx="130">
                  <c:v>3.5</c:v>
                </c:pt>
                <c:pt idx="131">
                  <c:v>3.5</c:v>
                </c:pt>
                <c:pt idx="132">
                  <c:v>3.5</c:v>
                </c:pt>
                <c:pt idx="133">
                  <c:v>3.5</c:v>
                </c:pt>
                <c:pt idx="134">
                  <c:v>3.5</c:v>
                </c:pt>
                <c:pt idx="135">
                  <c:v>3.5</c:v>
                </c:pt>
                <c:pt idx="136">
                  <c:v>3.5</c:v>
                </c:pt>
                <c:pt idx="137">
                  <c:v>3.5</c:v>
                </c:pt>
                <c:pt idx="138">
                  <c:v>3.5</c:v>
                </c:pt>
                <c:pt idx="139">
                  <c:v>3.5</c:v>
                </c:pt>
                <c:pt idx="140">
                  <c:v>0.5</c:v>
                </c:pt>
                <c:pt idx="141">
                  <c:v>0.5</c:v>
                </c:pt>
                <c:pt idx="142">
                  <c:v>0.5</c:v>
                </c:pt>
                <c:pt idx="143">
                  <c:v>0.5</c:v>
                </c:pt>
                <c:pt idx="144">
                  <c:v>0.5</c:v>
                </c:pt>
                <c:pt idx="145">
                  <c:v>0.5</c:v>
                </c:pt>
                <c:pt idx="146">
                  <c:v>0.5</c:v>
                </c:pt>
                <c:pt idx="147">
                  <c:v>0.5</c:v>
                </c:pt>
                <c:pt idx="148">
                  <c:v>0.5</c:v>
                </c:pt>
                <c:pt idx="149">
                  <c:v>0.5</c:v>
                </c:pt>
                <c:pt idx="150">
                  <c:v>0.2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150.0"/>
          <c:min val="0.0"/>
        </c:scaling>
        <c:delete val="0"/>
        <c:axPos val="b"/>
        <c:title>
          <c:tx>
            <c:rich>
              <a:bodyPr/>
              <a:lstStyle/>
              <a:p>
                <a:r>
                  <a:rPr sz="1200" b="0">
                    <a:solidFill>
                      <a:srgbClr val="52606D"/>
                    </a:solidFill>
                    <a:latin typeface="Calibri"/>
                  </a:rPr>
                  <a:t>Time (s)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>
            <a:solidFill>
              <a:srgbClr val="9CC3D9"/>
            </a:solidFill>
          </a:ln>
        </c:spPr>
        <c:txPr>
          <a:bodyPr/>
          <a:lstStyle/>
          <a:p>
            <a:pPr>
              <a:defRPr sz="1200">
                <a:solidFill>
                  <a:srgbClr val="52606D"/>
                </a:solidFill>
              </a:defRPr>
            </a:pPr>
          </a:p>
        </c:txPr>
        <c:crossAx val="-2129643912"/>
        <c:crosses val="autoZero"/>
        <c:crossBetween val="midCat"/>
        <c:majorUnit val="25.0"/>
      </c:valAx>
      <c:valAx>
        <c:axId val="-2129643912"/>
        <c:scaling>
          <c:orientation val="minMax"/>
          <c:max val="15.0"/>
          <c:min val="-5.0"/>
        </c:scaling>
        <c:delete val="0"/>
        <c:axPos val="l"/>
        <c:majorGridlines>
          <c:spPr>
            <a:ln w="9525">
              <a:solidFill>
                <a:srgbClr val="D5E3EC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52606D"/>
                    </a:solidFill>
                    <a:latin typeface="Calibri"/>
                  </a:rPr>
                  <a:t>Current (A)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9CC3D9"/>
            </a:solidFill>
          </a:ln>
        </c:spPr>
        <c:txPr>
          <a:bodyPr/>
          <a:lstStyle/>
          <a:p>
            <a:pPr>
              <a:defRPr sz="1200">
                <a:solidFill>
                  <a:srgbClr val="52606D"/>
                </a:solidFill>
              </a:defRPr>
            </a:pPr>
          </a:p>
        </c:txPr>
        <c:crossAx val="-2128940872"/>
        <c:crosses val="autoZero"/>
        <c:crossBetween val="midCat"/>
        <c:majorUnit val="5.0"/>
      </c:valAx>
    </c:plotArea>
    <c:plotVisOnly val="1"/>
    <c:dispBlanksAs val="gap"/>
    <c:showDLblsOverMax val="0"/>
  </c:chart>
  <c:txPr>
    <a:bodyPr/>
    <a:lstStyle/>
    <a:p>
      <a:pPr>
        <a:defRPr sz="1200">
          <a:solidFill>
            <a:srgbClr val="1F2933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0B3C5D"/>
                </a:solidFill>
                <a:latin typeface="Calibri"/>
              </a:rPr>
              <a:t>Max core temperature (°C)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Max core temperature (°C)</c:v>
                </c:pt>
              </c:strCache>
            </c:strRef>
          </c:tx>
          <c:dPt>
            <c:idx val="0"/>
            <c:spPr>
              <a:solidFill>
                <a:srgbClr val="90A4AE"/>
              </a:solidFill>
            </c:spPr>
          </c:dPt>
          <c:dPt>
            <c:idx val="1"/>
            <c:spPr>
              <a:solidFill>
                <a:srgbClr val="F5A623"/>
              </a:solidFill>
            </c:spPr>
          </c:dPt>
          <c:dPt>
            <c:idx val="2"/>
            <c:spPr>
              <a:solidFill>
                <a:srgbClr val="4A90C2"/>
              </a:solidFill>
            </c:spPr>
          </c:dPt>
          <c:dPt>
            <c:idx val="3"/>
            <c:spPr>
              <a:solidFill>
                <a:srgbClr val="0B7A75"/>
              </a:solidFill>
            </c:spPr>
          </c:dPt>
          <c:cat>
            <c:strRef>
              <c:f>Sheet1!$A$2:$A$5</c:f>
              <c:strCache>
                <c:ptCount val="4"/>
                <c:pt idx="0">
                  <c:v>Passive</c:v>
                </c:pt>
                <c:pt idx="1">
                  <c:v>Bang-Bang</c:v>
                </c:pt>
                <c:pt idx="2">
                  <c:v>PID</c:v>
                </c:pt>
                <c:pt idx="3">
                  <c:v>ML Look-Ahead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44.2</c:v>
                </c:pt>
                <c:pt idx="1">
                  <c:v>36.8</c:v>
                </c:pt>
                <c:pt idx="2">
                  <c:v>33.9</c:v>
                </c:pt>
                <c:pt idx="3">
                  <c:v>31.8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300" b="1">
                  <a:solidFill>
                    <a:srgbClr val="1F29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9CC3D9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2.0"/>
          <c:min val="0.0"/>
        </c:scaling>
        <c:delete val="0"/>
        <c:axPos val="l"/>
        <c:majorGridlines>
          <c:spPr>
            <a:ln w="9525">
              <a:solidFill>
                <a:srgbClr val="D5E3EC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52606D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F2933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400" b="1">
                <a:solidFill>
                  <a:srgbClr val="0B3C5D"/>
                </a:solidFill>
                <a:latin typeface="Calibri"/>
              </a:rPr>
              <a:t>Pump power vs coolant flow: P = 45 W × u³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Pump power</c:v>
                </c:pt>
              </c:strCache>
            </c:strRef>
          </c:tx>
          <c:spPr>
            <a:ln w="38100">
              <a:solidFill>
                <a:srgbClr val="4A90C2"/>
              </a:solidFill>
            </a:ln>
          </c:spPr>
          <c:marker>
            <c:symbol val="none"/>
          </c:marker>
          <c:xVal>
            <c:numRef>
              <c:f>Sheet1!$A$2:$A$22</c:f>
              <c:numCache>
                <c:formatCode>General</c:formatCode>
                <c:ptCount val="21"/>
                <c:pt idx="0">
                  <c:v>0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  <c:pt idx="7">
                  <c:v>35</c:v>
                </c:pt>
                <c:pt idx="8">
                  <c:v>40</c:v>
                </c:pt>
                <c:pt idx="9">
                  <c:v>45</c:v>
                </c:pt>
                <c:pt idx="10">
                  <c:v>50</c:v>
                </c:pt>
                <c:pt idx="11">
                  <c:v>55</c:v>
                </c:pt>
                <c:pt idx="12">
                  <c:v>60</c:v>
                </c:pt>
                <c:pt idx="13">
                  <c:v>65</c:v>
                </c:pt>
                <c:pt idx="14">
                  <c:v>70</c:v>
                </c:pt>
                <c:pt idx="15">
                  <c:v>75</c:v>
                </c:pt>
                <c:pt idx="16">
                  <c:v>80</c:v>
                </c:pt>
                <c:pt idx="17">
                  <c:v>85</c:v>
                </c:pt>
                <c:pt idx="18">
                  <c:v>90</c:v>
                </c:pt>
                <c:pt idx="19">
                  <c:v>95</c:v>
                </c:pt>
                <c:pt idx="20">
                  <c:v>100</c:v>
                </c:pt>
              </c:numCache>
            </c:numRef>
          </c:xVal>
          <c:yVal>
            <c:numRef>
              <c:f>Sheet1!$B$2:$B$22</c:f>
              <c:numCache>
                <c:formatCode>General</c:formatCode>
                <c:ptCount val="21"/>
                <c:pt idx="0">
                  <c:v>0.0</c:v>
                </c:pt>
                <c:pt idx="1">
                  <c:v>0.006</c:v>
                </c:pt>
                <c:pt idx="2">
                  <c:v>0.045</c:v>
                </c:pt>
                <c:pt idx="3">
                  <c:v>0.152</c:v>
                </c:pt>
                <c:pt idx="4">
                  <c:v>0.36</c:v>
                </c:pt>
                <c:pt idx="5">
                  <c:v>0.703</c:v>
                </c:pt>
                <c:pt idx="6">
                  <c:v>1.215</c:v>
                </c:pt>
                <c:pt idx="7">
                  <c:v>1.929</c:v>
                </c:pt>
                <c:pt idx="8">
                  <c:v>2.88</c:v>
                </c:pt>
                <c:pt idx="9">
                  <c:v>4.101</c:v>
                </c:pt>
                <c:pt idx="10">
                  <c:v>5.625</c:v>
                </c:pt>
                <c:pt idx="11">
                  <c:v>7.487</c:v>
                </c:pt>
                <c:pt idx="12">
                  <c:v>9.72</c:v>
                </c:pt>
                <c:pt idx="13">
                  <c:v>12.358</c:v>
                </c:pt>
                <c:pt idx="14">
                  <c:v>15.435</c:v>
                </c:pt>
                <c:pt idx="15">
                  <c:v>18.984</c:v>
                </c:pt>
                <c:pt idx="16">
                  <c:v>23.04</c:v>
                </c:pt>
                <c:pt idx="17">
                  <c:v>27.636</c:v>
                </c:pt>
                <c:pt idx="18">
                  <c:v>32.805</c:v>
                </c:pt>
                <c:pt idx="19">
                  <c:v>38.582</c:v>
                </c:pt>
                <c:pt idx="20">
                  <c:v>45.0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Sheet1!$B$24</c:f>
              <c:strCache>
                <c:ptCount val="1"/>
                <c:pt idx="0">
                  <c:v>50% flow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1"/>
            <c:spPr>
              <a:solidFill>
                <a:srgbClr val="E8710A"/>
              </a:solidFill>
              <a:ln>
                <a:solidFill>
                  <a:srgbClr val="FFFFFF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sz="1300" b="1">
                        <a:solidFill>
                          <a:srgbClr val="E8710A"/>
                        </a:solidFill>
                        <a:latin typeface="Calibri"/>
                      </a:rPr>
                      <a:t>5.6 W at 50% flow</a:t>
                    </a:r>
                  </a:p>
                </c:rich>
              </c:tx>
              <c:dLblPos val="l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xVal>
            <c:numRef>
              <c:f>Sheet1!$A$25:$A$25</c:f>
              <c:numCache>
                <c:formatCode>General</c:formatCode>
                <c:ptCount val="1"/>
                <c:pt idx="0">
                  <c:v>50</c:v>
                </c:pt>
              </c:numCache>
            </c:numRef>
          </c:xVal>
          <c:yVal>
            <c:numRef>
              <c:f>Sheet1!$B$25:$B$25</c:f>
              <c:numCache>
                <c:formatCode>General</c:formatCode>
                <c:ptCount val="1"/>
                <c:pt idx="0">
                  <c:v>5.625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100.0"/>
          <c:min val="0.0"/>
        </c:scaling>
        <c:delete val="0"/>
        <c:axPos val="b"/>
        <c:title>
          <c:tx>
            <c:rich>
              <a:bodyPr/>
              <a:lstStyle/>
              <a:p>
                <a:r>
                  <a:rPr sz="1200" b="0">
                    <a:solidFill>
                      <a:srgbClr val="52606D"/>
                    </a:solidFill>
                    <a:latin typeface="Calibri"/>
                  </a:rPr>
                  <a:t>Coolant flow u (%)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9CC3D9"/>
            </a:solidFill>
          </a:ln>
        </c:spPr>
        <c:txPr>
          <a:bodyPr/>
          <a:lstStyle/>
          <a:p>
            <a:pPr>
              <a:defRPr sz="1200">
                <a:solidFill>
                  <a:srgbClr val="52606D"/>
                </a:solidFill>
              </a:defRPr>
            </a:pPr>
          </a:p>
        </c:txPr>
        <c:crossAx val="-2129643912"/>
        <c:crosses val="autoZero"/>
        <c:crossBetween val="midCat"/>
        <c:majorUnit val="25.0"/>
      </c:valAx>
      <c:valAx>
        <c:axId val="-2129643912"/>
        <c:scaling>
          <c:orientation val="minMax"/>
          <c:max val="50.0"/>
          <c:min val="0.0"/>
        </c:scaling>
        <c:delete val="0"/>
        <c:axPos val="l"/>
        <c:majorGridlines>
          <c:spPr>
            <a:ln w="9525">
              <a:solidFill>
                <a:srgbClr val="D5E3EC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52606D"/>
                    </a:solidFill>
                    <a:latin typeface="Calibri"/>
                  </a:rPr>
                  <a:t>Pump power (W)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9CC3D9"/>
            </a:solidFill>
          </a:ln>
        </c:spPr>
        <c:txPr>
          <a:bodyPr/>
          <a:lstStyle/>
          <a:p>
            <a:pPr>
              <a:defRPr sz="1200">
                <a:solidFill>
                  <a:srgbClr val="52606D"/>
                </a:solidFill>
              </a:defRPr>
            </a:pPr>
          </a:p>
        </c:txPr>
        <c:crossAx val="-2128940872"/>
        <c:crosses val="autoZero"/>
        <c:crossBetween val="midCat"/>
        <c:majorUnit val="10.0"/>
      </c:valAx>
    </c:plotArea>
    <c:plotVisOnly val="1"/>
    <c:dispBlanksAs val="gap"/>
    <c:showDLblsOverMax val="0"/>
  </c:chart>
  <c:txPr>
    <a:bodyPr/>
    <a:lstStyle/>
    <a:p>
      <a:pPr>
        <a:defRPr sz="1200">
          <a:solidFill>
            <a:srgbClr val="1F2933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0B3C5D"/>
                </a:solidFill>
                <a:latin typeface="Calibri"/>
              </a:rPr>
              <a:t>Parasitic pump energy (Wh)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Parasitic pump energy (Wh)</c:v>
                </c:pt>
              </c:strCache>
            </c:strRef>
          </c:tx>
          <c:dPt>
            <c:idx val="0"/>
            <c:spPr>
              <a:solidFill>
                <a:srgbClr val="90A4AE"/>
              </a:solidFill>
            </c:spPr>
          </c:dPt>
          <c:dPt>
            <c:idx val="1"/>
            <c:spPr>
              <a:solidFill>
                <a:srgbClr val="F5A623"/>
              </a:solidFill>
            </c:spPr>
          </c:dPt>
          <c:dPt>
            <c:idx val="2"/>
            <c:spPr>
              <a:solidFill>
                <a:srgbClr val="4A90C2"/>
              </a:solidFill>
            </c:spPr>
          </c:dPt>
          <c:dPt>
            <c:idx val="3"/>
            <c:spPr>
              <a:solidFill>
                <a:srgbClr val="0B7A75"/>
              </a:solidFill>
            </c:spPr>
          </c:dPt>
          <c:cat>
            <c:strRef>
              <c:f>Sheet1!$A$2:$A$5</c:f>
              <c:strCache>
                <c:ptCount val="4"/>
                <c:pt idx="0">
                  <c:v>Passive</c:v>
                </c:pt>
                <c:pt idx="1">
                  <c:v>Bang-Bang</c:v>
                </c:pt>
                <c:pt idx="2">
                  <c:v>PID</c:v>
                </c:pt>
                <c:pt idx="3">
                  <c:v>ML Look-Ahead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</c:v>
                </c:pt>
                <c:pt idx="1">
                  <c:v>1.75</c:v>
                </c:pt>
                <c:pt idx="2">
                  <c:v>0.92</c:v>
                </c:pt>
                <c:pt idx="3">
                  <c:v>0.41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300" b="1">
                  <a:solidFill>
                    <a:srgbClr val="1F29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9CC3D9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.2"/>
          <c:min val="0.0"/>
        </c:scaling>
        <c:delete val="0"/>
        <c:axPos val="l"/>
        <c:majorGridlines>
          <c:spPr>
            <a:ln w="9525">
              <a:solidFill>
                <a:srgbClr val="D5E3EC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52606D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F2933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699836-02B7-459A-AF64-A000817D576C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065E4E-ABE4-4C79-8716-B93932D5FBD3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65E4E-ABE4-4C79-8716-B93932D5FBD3}" type="slidenum">
              <a:rPr lang="en-IN" smtClean="0"/>
              <a:t>1</a:t>
            </a:fld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A28D54-4CB4-418F-9EAD-5CF394B7AA3C}" type="slidenum">
              <a:rPr lang="en-IN" smtClean="0"/>
              <a:t>16</a:t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600" lvl="0" indent="-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200" lvl="1" indent="-423545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800" lvl="2" indent="-42354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400" lvl="3" indent="-423545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8000" lvl="4" indent="-423545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600" lvl="5" indent="-42354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200" lvl="6" indent="-423545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800" lvl="7" indent="-423545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400" lvl="8" indent="-42354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>
          <a:xfrm>
            <a:off x="9082391" y="-46610"/>
            <a:ext cx="2749685" cy="766455"/>
            <a:chOff x="8780834" y="0"/>
            <a:chExt cx="2749685" cy="766455"/>
          </a:xfrm>
        </p:grpSpPr>
        <p:sp>
          <p:nvSpPr>
            <p:cNvPr id="2" name="Rectangle: Rounded Corners 1"/>
            <p:cNvSpPr/>
            <p:nvPr userDrawn="1"/>
          </p:nvSpPr>
          <p:spPr>
            <a:xfrm>
              <a:off x="8784076" y="61605"/>
              <a:ext cx="2746443" cy="704850"/>
            </a:xfrm>
            <a:prstGeom prst="roundRect">
              <a:avLst/>
            </a:prstGeom>
            <a:solidFill>
              <a:srgbClr val="ED1C2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Rectangle: Rounded Corners 2"/>
            <p:cNvSpPr/>
            <p:nvPr userDrawn="1"/>
          </p:nvSpPr>
          <p:spPr>
            <a:xfrm>
              <a:off x="8780834" y="0"/>
              <a:ext cx="2746443" cy="70485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Rectangle: Rounded Corners 3"/>
          <p:cNvSpPr/>
          <p:nvPr userDrawn="1"/>
        </p:nvSpPr>
        <p:spPr>
          <a:xfrm>
            <a:off x="11819106" y="1"/>
            <a:ext cx="372894" cy="571500"/>
          </a:xfrm>
          <a:prstGeom prst="roundRect">
            <a:avLst>
              <a:gd name="adj" fmla="val 0"/>
            </a:avLst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/>
          <p:cNvSpPr/>
          <p:nvPr userDrawn="1"/>
        </p:nvSpPr>
        <p:spPr>
          <a:xfrm>
            <a:off x="-1" y="1"/>
            <a:ext cx="9105089" cy="571500"/>
          </a:xfrm>
          <a:prstGeom prst="roundRect">
            <a:avLst>
              <a:gd name="adj" fmla="val 0"/>
            </a:avLst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0382" y="54933"/>
            <a:ext cx="1575883" cy="512545"/>
          </a:xfrm>
          <a:prstGeom prst="rect">
            <a:avLst/>
          </a:prstGeom>
        </p:spPr>
      </p:pic>
      <p:grpSp>
        <p:nvGrpSpPr>
          <p:cNvPr id="37" name="Group 36"/>
          <p:cNvGrpSpPr/>
          <p:nvPr userDrawn="1"/>
        </p:nvGrpSpPr>
        <p:grpSpPr>
          <a:xfrm>
            <a:off x="0" y="6657974"/>
            <a:ext cx="12192000" cy="216961"/>
            <a:chOff x="0" y="6657974"/>
            <a:chExt cx="12192000" cy="216961"/>
          </a:xfrm>
        </p:grpSpPr>
        <p:sp>
          <p:nvSpPr>
            <p:cNvPr id="33" name="Rectangle 32"/>
            <p:cNvSpPr/>
            <p:nvPr/>
          </p:nvSpPr>
          <p:spPr>
            <a:xfrm>
              <a:off x="0" y="6802583"/>
              <a:ext cx="12192000" cy="72352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0" y="6657974"/>
              <a:ext cx="12192000" cy="147227"/>
            </a:xfrm>
            <a:prstGeom prst="rect">
              <a:avLst/>
            </a:prstGeom>
            <a:solidFill>
              <a:srgbClr val="FFD5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svg"/><Relationship Id="rId7" Type="http://schemas.openxmlformats.org/officeDocument/2006/relationships/image" Target="../media/image5.png"/><Relationship Id="rId8" Type="http://schemas.openxmlformats.org/officeDocument/2006/relationships/image" Target="../media/image6.sv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36.png"/><Relationship Id="rId12" Type="http://schemas.openxmlformats.org/officeDocument/2006/relationships/image" Target="../media/image3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38.png"/><Relationship Id="rId7" Type="http://schemas.openxmlformats.org/officeDocument/2006/relationships/image" Target="../media/image39.png"/><Relationship Id="rId8" Type="http://schemas.openxmlformats.org/officeDocument/2006/relationships/image" Target="../media/image4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41.png"/><Relationship Id="rId9" Type="http://schemas.openxmlformats.org/officeDocument/2006/relationships/image" Target="../media/image42.png"/><Relationship Id="rId10" Type="http://schemas.openxmlformats.org/officeDocument/2006/relationships/image" Target="../media/image43.png"/><Relationship Id="rId11" Type="http://schemas.openxmlformats.org/officeDocument/2006/relationships/image" Target="../media/image44.png"/><Relationship Id="rId12" Type="http://schemas.openxmlformats.org/officeDocument/2006/relationships/image" Target="../media/image4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46.png"/><Relationship Id="rId5" Type="http://schemas.openxmlformats.org/officeDocument/2006/relationships/image" Target="../media/image4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19.png"/><Relationship Id="rId6" Type="http://schemas.openxmlformats.org/officeDocument/2006/relationships/image" Target="../media/image24.png"/><Relationship Id="rId7" Type="http://schemas.openxmlformats.org/officeDocument/2006/relationships/image" Target="../media/image47.png"/><Relationship Id="rId8" Type="http://schemas.openxmlformats.org/officeDocument/2006/relationships/image" Target="../media/image48.png"/><Relationship Id="rId9" Type="http://schemas.openxmlformats.org/officeDocument/2006/relationships/image" Target="../media/image42.png"/><Relationship Id="rId10" Type="http://schemas.openxmlformats.org/officeDocument/2006/relationships/image" Target="../media/image4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6.jpg"/><Relationship Id="rId3" Type="http://schemas.openxmlformats.org/officeDocument/2006/relationships/chart" Target="../charts/char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7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8.jpg"/><Relationship Id="rId3" Type="http://schemas.openxmlformats.org/officeDocument/2006/relationships/chart" Target="../charts/char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9.jpg"/><Relationship Id="rId3" Type="http://schemas.openxmlformats.org/officeDocument/2006/relationships/hyperlink" Target="https://github.com/Pugazhenthi005/Smart-Campus-Flora-AI-Classification-Botanical-Mapping" TargetMode="External"/><Relationship Id="rId4" Type="http://schemas.openxmlformats.org/officeDocument/2006/relationships/hyperlink" Target="https://pugazhenthi005.github.io/Smart-Campus-Flora-AI-Classification-Botanical-Mapping/" TargetMode="External"/><Relationship Id="rId5" Type="http://schemas.openxmlformats.org/officeDocument/2006/relationships/chart" Target="../charts/chart3.xml"/><Relationship Id="rId6" Type="http://schemas.openxmlformats.org/officeDocument/2006/relationships/chart" Target="../charts/char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Relationship Id="rId8" Type="http://schemas.openxmlformats.org/officeDocument/2006/relationships/image" Target="../media/image50.png"/><Relationship Id="rId9" Type="http://schemas.openxmlformats.org/officeDocument/2006/relationships/image" Target="../media/image51.png"/><Relationship Id="rId10" Type="http://schemas.openxmlformats.org/officeDocument/2006/relationships/image" Target="../media/image52.png"/><Relationship Id="rId11" Type="http://schemas.openxmlformats.org/officeDocument/2006/relationships/image" Target="../media/image53.png"/><Relationship Id="rId12" Type="http://schemas.openxmlformats.org/officeDocument/2006/relationships/image" Target="../media/image54.png"/><Relationship Id="rId13" Type="http://schemas.openxmlformats.org/officeDocument/2006/relationships/image" Target="../media/image3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0" y="-250913"/>
            <a:ext cx="12192000" cy="71089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60"/>
              </a:lnSpc>
              <a:spcBef>
                <a:spcPct val="0"/>
              </a:spcBef>
            </a:pPr>
            <a:endParaRPr/>
          </a:p>
        </p:txBody>
      </p:sp>
      <p:sp>
        <p:nvSpPr>
          <p:cNvPr id="62" name="Freeform 2"/>
          <p:cNvSpPr/>
          <p:nvPr/>
        </p:nvSpPr>
        <p:spPr>
          <a:xfrm>
            <a:off x="0" y="-1"/>
            <a:ext cx="6648450" cy="6972301"/>
          </a:xfrm>
          <a:custGeom>
            <a:avLst/>
            <a:gdLst/>
            <a:ahLst/>
            <a:cxnLst/>
            <a:rect l="l" t="t" r="r" b="b"/>
            <a:pathLst>
              <a:path w="8150888" h="8165735">
                <a:moveTo>
                  <a:pt x="0" y="0"/>
                </a:moveTo>
                <a:lnTo>
                  <a:pt x="8150888" y="0"/>
                </a:lnTo>
                <a:lnTo>
                  <a:pt x="8150888" y="8165735"/>
                </a:lnTo>
                <a:lnTo>
                  <a:pt x="0" y="81657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8000"/>
            </a:blip>
            <a:stretch>
              <a:fillRect l="-49823" t="-22922" r="-1" b="-2020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9" name="Rectangle: Rounded Corners 68"/>
          <p:cNvSpPr/>
          <p:nvPr/>
        </p:nvSpPr>
        <p:spPr>
          <a:xfrm>
            <a:off x="641684" y="640538"/>
            <a:ext cx="11012905" cy="5816005"/>
          </a:xfrm>
          <a:prstGeom prst="roundRect">
            <a:avLst>
              <a:gd name="adj" fmla="val 760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5" name="Picture 7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0942" y="1241814"/>
            <a:ext cx="1945080" cy="632624"/>
          </a:xfrm>
          <a:prstGeom prst="rect">
            <a:avLst/>
          </a:prstGeom>
        </p:spPr>
      </p:pic>
      <p:sp>
        <p:nvSpPr>
          <p:cNvPr id="72" name="TextBox 11"/>
          <p:cNvSpPr txBox="1"/>
          <p:nvPr/>
        </p:nvSpPr>
        <p:spPr>
          <a:xfrm>
            <a:off x="1169765" y="3104982"/>
            <a:ext cx="4363529" cy="20313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1800" b="1" u="sng">
                <a:solidFill>
                  <a:srgbClr val="203263"/>
                </a:solidFill>
                <a:latin typeface="Times New Roman" panose="02020603050405020304"/>
                <a:ea typeface="Open Sans Semibold"/>
                <a:cs typeface="Times New Roman" panose="02020603050405020304"/>
              </a:rPr>
              <a:t>Team Lead Name</a:t>
            </a:r>
          </a:p>
          <a:p>
            <a:r>
              <a:rPr lang="en-US" sz="1600">
                <a:solidFill>
                  <a:srgbClr val="203263"/>
                </a:solidFill>
                <a:latin typeface="Times New Roman" panose="02020603050405020304"/>
                <a:ea typeface="Open Sans Semibold"/>
                <a:cs typeface="Times New Roman" panose="02020603050405020304"/>
              </a:rPr>
              <a:t>MOULESH S</a:t>
            </a:r>
          </a:p>
          <a:p>
            <a:endParaRPr lang="en-US" sz="1600" b="1" u="sng">
              <a:solidFill>
                <a:srgbClr val="203263"/>
              </a:solidFill>
              <a:latin typeface="Times New Roman" panose="02020603050405020304"/>
              <a:ea typeface="Open Sans Semibold"/>
              <a:cs typeface="Times New Roman" panose="02020603050405020304"/>
            </a:endParaRPr>
          </a:p>
          <a:p>
            <a:r>
              <a:rPr lang="en-US" b="1" u="sng">
                <a:solidFill>
                  <a:srgbClr val="203263"/>
                </a:solidFill>
                <a:latin typeface="Times New Roman" panose="02020603050405020304"/>
                <a:ea typeface="Open Sans Semibold"/>
                <a:cs typeface="Times New Roman" panose="02020603050405020304"/>
              </a:rPr>
              <a:t>Team Members</a:t>
            </a:r>
          </a:p>
          <a:p>
            <a:pPr marL="342900" indent="-342900">
              <a:buAutoNum type="arabicPeriod"/>
            </a:pPr>
            <a:r>
              <a:rPr lang="en-US" sz="1600">
                <a:solidFill>
                  <a:srgbClr val="203263"/>
                </a:solidFill>
                <a:latin typeface="Times New Roman" panose="02020603050405020304"/>
                <a:ea typeface="Open Sans Semibold"/>
                <a:cs typeface="Times New Roman" panose="02020603050405020304"/>
              </a:rPr>
              <a:t>RAGURAMAN J</a:t>
            </a:r>
            <a:endParaRPr lang="en-US" sz="1600">
              <a:solidFill>
                <a:srgbClr val="000000"/>
              </a:solidFill>
              <a:latin typeface="Times New Roman" panose="02020603050405020304"/>
              <a:ea typeface="Open Sans Semibold"/>
              <a:cs typeface="Times New Roman" panose="02020603050405020304"/>
            </a:endParaRPr>
          </a:p>
          <a:p>
            <a:pPr marL="342900" indent="-342900">
              <a:buAutoNum type="arabicPeriod"/>
            </a:pPr>
            <a:r>
              <a:rPr lang="en-US" sz="1600">
                <a:solidFill>
                  <a:srgbClr val="203263"/>
                </a:solidFill>
                <a:latin typeface="Times New Roman" panose="02020603050405020304"/>
                <a:ea typeface="Open Sans Semibold"/>
                <a:cs typeface="Times New Roman" panose="02020603050405020304"/>
              </a:rPr>
              <a:t>ANANTH KUMAR A</a:t>
            </a:r>
            <a:endParaRPr lang="en-US" sz="1600">
              <a:solidFill>
                <a:srgbClr val="000000"/>
              </a:solidFill>
              <a:latin typeface="Times New Roman" panose="02020603050405020304"/>
              <a:ea typeface="Open Sans Semibold"/>
              <a:cs typeface="Times New Roman" panose="02020603050405020304"/>
            </a:endParaRPr>
          </a:p>
          <a:p>
            <a:endParaRPr lang="en-US" sz="1600" b="0" u="sng">
              <a:solidFill>
                <a:srgbClr val="203263"/>
              </a:solidFill>
              <a:latin typeface="Times New Roman" panose="02020603050405020304"/>
              <a:ea typeface="Open Sans Semibold"/>
              <a:cs typeface="Times New Roman" panose="02020603050405020304"/>
            </a:endParaRPr>
          </a:p>
        </p:txBody>
      </p:sp>
      <p:sp>
        <p:nvSpPr>
          <p:cNvPr id="73" name="TextBox 12"/>
          <p:cNvSpPr txBox="1"/>
          <p:nvPr/>
        </p:nvSpPr>
        <p:spPr>
          <a:xfrm>
            <a:off x="1060941" y="5501257"/>
            <a:ext cx="6140897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b="1">
                <a:solidFill>
                  <a:srgbClr val="203263"/>
                </a:solidFill>
                <a:latin typeface="Times New Roman" panose="02020603050405020304"/>
                <a:ea typeface="Open Sans Semibold"/>
                <a:cs typeface="Times New Roman" panose="02020603050405020304"/>
              </a:rPr>
              <a:t>Mentor : </a:t>
            </a:r>
            <a:r>
              <a:rPr lang="en-US" sz="1600" b="1">
                <a:solidFill>
                  <a:srgbClr val="203263"/>
                </a:solidFill>
                <a:latin typeface="Times New Roman" panose="02020603050405020304"/>
                <a:ea typeface="Open Sans Semibold"/>
                <a:cs typeface="Times New Roman" panose="02020603050405020304"/>
              </a:rPr>
              <a:t>SANTHOSH P</a:t>
            </a:r>
          </a:p>
          <a:p>
            <a:r>
              <a:rPr lang="en-US" b="1">
                <a:solidFill>
                  <a:srgbClr val="203263"/>
                </a:solidFill>
                <a:latin typeface="Times New Roman" panose="02020603050405020304"/>
                <a:ea typeface="Open Sans Semibold"/>
                <a:cs typeface="Times New Roman" panose="02020603050405020304"/>
              </a:rPr>
              <a:t>College Name – </a:t>
            </a:r>
            <a:r>
              <a:rPr lang="en-US" sz="1600" b="1">
                <a:solidFill>
                  <a:srgbClr val="203263"/>
                </a:solidFill>
                <a:latin typeface="Times New Roman" panose="02020603050405020304"/>
                <a:ea typeface="Open Sans Semibold"/>
                <a:cs typeface="Times New Roman" panose="02020603050405020304"/>
              </a:rPr>
              <a:t>University College of Engineering Villupuram</a:t>
            </a:r>
          </a:p>
        </p:txBody>
      </p:sp>
      <p:cxnSp>
        <p:nvCxnSpPr>
          <p:cNvPr id="74" name="Straight Connector 73"/>
          <p:cNvCxnSpPr/>
          <p:nvPr/>
        </p:nvCxnSpPr>
        <p:spPr>
          <a:xfrm>
            <a:off x="1038704" y="5187255"/>
            <a:ext cx="3981450" cy="0"/>
          </a:xfrm>
          <a:prstGeom prst="line">
            <a:avLst/>
          </a:prstGeom>
          <a:ln w="6350">
            <a:solidFill>
              <a:srgbClr val="2032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ectangle 76"/>
          <p:cNvSpPr/>
          <p:nvPr/>
        </p:nvSpPr>
        <p:spPr>
          <a:xfrm rot="5400000">
            <a:off x="3314495" y="-1034939"/>
            <a:ext cx="197544" cy="3332165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5" name="Group 94"/>
          <p:cNvGrpSpPr/>
          <p:nvPr/>
        </p:nvGrpSpPr>
        <p:grpSpPr>
          <a:xfrm>
            <a:off x="7474168" y="475759"/>
            <a:ext cx="5191859" cy="6858000"/>
            <a:chOff x="6842415" y="89416"/>
            <a:chExt cx="5217433" cy="6858000"/>
          </a:xfrm>
        </p:grpSpPr>
        <p:sp>
          <p:nvSpPr>
            <p:cNvPr id="48" name="Freeform 4"/>
            <p:cNvSpPr/>
            <p:nvPr/>
          </p:nvSpPr>
          <p:spPr>
            <a:xfrm>
              <a:off x="9866433" y="89416"/>
              <a:ext cx="2193415" cy="6858000"/>
            </a:xfrm>
            <a:custGeom>
              <a:avLst/>
              <a:gdLst/>
              <a:ahLst/>
              <a:cxnLst/>
              <a:rect l="l" t="t" r="r" b="b"/>
              <a:pathLst>
                <a:path w="4386830" h="9179069">
                  <a:moveTo>
                    <a:pt x="0" y="0"/>
                  </a:moveTo>
                  <a:lnTo>
                    <a:pt x="4386830" y="0"/>
                  </a:lnTo>
                  <a:lnTo>
                    <a:pt x="4386830" y="9179069"/>
                  </a:lnTo>
                  <a:lnTo>
                    <a:pt x="0" y="9179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39000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t="-19994" r="-100000" b="-1385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Rectangle 66"/>
            <p:cNvSpPr/>
            <p:nvPr/>
          </p:nvSpPr>
          <p:spPr>
            <a:xfrm>
              <a:off x="10932885" y="3282950"/>
              <a:ext cx="161925" cy="2771775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/>
            <p:cNvSpPr/>
            <p:nvPr/>
          </p:nvSpPr>
          <p:spPr>
            <a:xfrm rot="5400000">
              <a:off x="9436100" y="4464051"/>
              <a:ext cx="152400" cy="3133725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9976139" y="3333750"/>
              <a:ext cx="45633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/>
                  </a:solidFill>
                </a:rPr>
                <a:t>AI</a:t>
              </a:r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9290339" y="4595815"/>
              <a:ext cx="4563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>
                  <a:solidFill>
                    <a:schemeClr val="bg1"/>
                  </a:solidFill>
                </a:rPr>
                <a:t>AI</a:t>
              </a:r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10528591" y="4567242"/>
              <a:ext cx="30609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>
                  <a:solidFill>
                    <a:schemeClr val="bg1"/>
                  </a:solidFill>
                </a:rPr>
                <a:t>AI</a:t>
              </a: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8775991" y="3609980"/>
              <a:ext cx="30609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>
                  <a:solidFill>
                    <a:schemeClr val="bg1"/>
                  </a:solidFill>
                </a:rPr>
                <a:t>AI</a:t>
              </a: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9518941" y="2828929"/>
              <a:ext cx="306099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>
                  <a:solidFill>
                    <a:schemeClr val="bg1"/>
                  </a:solidFill>
                </a:rPr>
                <a:t>AI</a:t>
              </a:r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8233065" y="2757494"/>
              <a:ext cx="30609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b="1">
                  <a:solidFill>
                    <a:schemeClr val="bg1"/>
                  </a:solidFill>
                </a:rPr>
                <a:t>AI</a:t>
              </a: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7671090" y="2776545"/>
              <a:ext cx="30609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b="1">
                  <a:solidFill>
                    <a:schemeClr val="bg1"/>
                  </a:solidFill>
                </a:rPr>
                <a:t>AI</a:t>
              </a: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6842415" y="3244334"/>
              <a:ext cx="30609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b="1">
                  <a:solidFill>
                    <a:schemeClr val="bg1"/>
                  </a:solidFill>
                </a:rPr>
                <a:t>AI</a:t>
              </a: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7532978" y="2387084"/>
              <a:ext cx="30609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b="1">
                  <a:solidFill>
                    <a:schemeClr val="bg1"/>
                  </a:solidFill>
                </a:rPr>
                <a:t>AI</a:t>
              </a:r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8642642" y="4706421"/>
              <a:ext cx="30609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b="1">
                  <a:solidFill>
                    <a:schemeClr val="bg1"/>
                  </a:solidFill>
                </a:rPr>
                <a:t>AI</a:t>
              </a:r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9894859" y="5362895"/>
              <a:ext cx="4563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>
                  <a:solidFill>
                    <a:schemeClr val="bg1"/>
                  </a:solidFill>
                </a:rPr>
                <a:t>AI</a:t>
              </a:r>
            </a:p>
          </p:txBody>
        </p:sp>
      </p:grpSp>
      <p:sp>
        <p:nvSpPr>
          <p:cNvPr id="96" name="Freeform 15"/>
          <p:cNvSpPr/>
          <p:nvPr/>
        </p:nvSpPr>
        <p:spPr>
          <a:xfrm>
            <a:off x="1656846" y="347936"/>
            <a:ext cx="3390899" cy="593408"/>
          </a:xfrm>
          <a:custGeom>
            <a:avLst/>
            <a:gdLst/>
            <a:ahLst/>
            <a:cxnLst/>
            <a:rect l="l" t="t" r="r" b="b"/>
            <a:pathLst>
              <a:path w="16230600" h="2840355">
                <a:moveTo>
                  <a:pt x="0" y="0"/>
                </a:moveTo>
                <a:lnTo>
                  <a:pt x="16230600" y="0"/>
                </a:lnTo>
                <a:lnTo>
                  <a:pt x="16230600" y="2840355"/>
                </a:lnTo>
                <a:lnTo>
                  <a:pt x="0" y="284035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" name="TextBox 11"/>
          <p:cNvSpPr txBox="1"/>
          <p:nvPr/>
        </p:nvSpPr>
        <p:spPr>
          <a:xfrm>
            <a:off x="1343602" y="2011680"/>
            <a:ext cx="4189618" cy="6153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800" b="1" u="sng">
                <a:latin typeface="Times New Roman" panose="02020603050405020304"/>
                <a:cs typeface="Times New Roman" panose="02020603050405020304"/>
              </a:rPr>
              <a:t>EV BATTERY THERMAL &amp; COOLING OPTIMIZATION</a:t>
            </a:r>
          </a:p>
          <a:p>
            <a:pPr algn="ctr"/>
            <a:r>
              <a:rPr lang="en-US" sz="1500" b="0" u="none">
                <a:latin typeface="Times New Roman" panose="02020603050405020304"/>
                <a:cs typeface="Times New Roman" panose="02020603050405020304"/>
              </a:rPr>
              <a:t>Physics + ML Hybrid Cooling Simulation</a:t>
            </a:r>
            <a:endParaRPr lang="en-US" sz="2000" b="1" u="sng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Freeform 10"/>
          <p:cNvSpPr/>
          <p:nvPr/>
        </p:nvSpPr>
        <p:spPr>
          <a:xfrm>
            <a:off x="5045498" y="765858"/>
            <a:ext cx="6504818" cy="5987142"/>
          </a:xfrm>
          <a:custGeom>
            <a:avLst/>
            <a:gdLst/>
            <a:ahLst/>
            <a:cxnLst/>
            <a:rect l="l" t="t" r="r" b="b"/>
            <a:pathLst>
              <a:path w="8283781" h="7624530">
                <a:moveTo>
                  <a:pt x="0" y="0"/>
                </a:moveTo>
                <a:lnTo>
                  <a:pt x="8283781" y="0"/>
                </a:lnTo>
                <a:lnTo>
                  <a:pt x="8283781" y="7624530"/>
                </a:lnTo>
                <a:lnTo>
                  <a:pt x="0" y="76245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3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65128" y="1356300"/>
            <a:ext cx="6264612" cy="4698459"/>
          </a:xfrm>
          <a:prstGeom prst="rect">
            <a:avLst/>
          </a:prstGeom>
        </p:spPr>
      </p:pic>
      <p:sp>
        <p:nvSpPr>
          <p:cNvPr id="97" name="Illustration patch"/>
          <p:cNvSpPr/>
          <p:nvPr/>
        </p:nvSpPr>
        <p:spPr>
          <a:xfrm>
            <a:off x="10168128" y="4572000"/>
            <a:ext cx="1280160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8" name="Icon FaCarBattery" descr="FaCarBattery_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52176" y="4572000"/>
            <a:ext cx="566928" cy="566928"/>
          </a:xfrm>
          <a:prstGeom prst="rect">
            <a:avLst/>
          </a:prstGeom>
        </p:spPr>
      </p:pic>
      <p:sp>
        <p:nvSpPr>
          <p:cNvPr id="99" name="Illustration patch bolt"/>
          <p:cNvSpPr/>
          <p:nvPr/>
        </p:nvSpPr>
        <p:spPr>
          <a:xfrm>
            <a:off x="5797296" y="4023360"/>
            <a:ext cx="1261872" cy="1645920"/>
          </a:xfrm>
          <a:prstGeom prst="ellipse">
            <a:avLst/>
          </a:prstGeom>
          <a:solidFill>
            <a:srgbClr val="DC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0" name="Icon FaBolt" descr="FaBolt_t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44768" y="4562856"/>
            <a:ext cx="566928" cy="566928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"/>
          <p:cNvSpPr txBox="1"/>
          <p:nvPr/>
        </p:nvSpPr>
        <p:spPr>
          <a:xfrm>
            <a:off x="30748" y="96705"/>
            <a:ext cx="9000000" cy="3936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 lnSpcReduction="10000"/>
          </a:bodyPr>
          <a:lstStyle/>
          <a:p>
            <a:pPr algn="l"/>
            <a:r>
              <a:rPr lang="en-US" sz="2200" b="1" u="sng">
                <a:solidFill>
                  <a:srgbClr val="002060"/>
                </a:solidFill>
                <a:latin typeface="Times New Roman" panose="02020603050405020304"/>
                <a:cs typeface="Times New Roman" panose="02020603050405020304"/>
              </a:rPr>
              <a:t>Project Objectives</a:t>
            </a:r>
          </a:p>
        </p:txBody>
      </p:sp>
      <p:sp>
        <p:nvSpPr>
          <p:cNvPr id="102" name="Content Card"/>
          <p:cNvSpPr/>
          <p:nvPr/>
        </p:nvSpPr>
        <p:spPr>
          <a:xfrm>
            <a:off x="457200" y="1143000"/>
            <a:ext cx="3576320" cy="1371600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1051560" tIns="0" rIns="137160" bIns="0" anchor="ctr">
            <a:normAutofit/>
          </a:bodyPr>
          <a:lstStyle/>
          <a:p>
            <a:pPr algn="l"/>
            <a:r>
              <a:rPr lang="en-US" b="1">
                <a:solidFill>
                  <a:srgbClr val="203263"/>
                </a:solidFill>
                <a:latin typeface="Times New Roman" panose="02020603050405020304"/>
                <a:cs typeface="Times New Roman" panose="02020603050405020304"/>
              </a:rPr>
              <a:t>Problem Statement</a:t>
            </a:r>
          </a:p>
        </p:txBody>
      </p:sp>
      <p:sp>
        <p:nvSpPr>
          <p:cNvPr id="103" name="Number 1"/>
          <p:cNvSpPr/>
          <p:nvPr/>
        </p:nvSpPr>
        <p:spPr>
          <a:xfrm>
            <a:off x="640080" y="1485900"/>
            <a:ext cx="685800" cy="685800"/>
          </a:xfrm>
          <a:prstGeom prst="ellipse">
            <a:avLst/>
          </a:prstGeom>
          <a:solidFill>
            <a:srgbClr val="203263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</a:p>
        </p:txBody>
      </p:sp>
      <p:sp>
        <p:nvSpPr>
          <p:cNvPr id="104" name="Content Card"/>
          <p:cNvSpPr/>
          <p:nvPr/>
        </p:nvSpPr>
        <p:spPr>
          <a:xfrm>
            <a:off x="4307840" y="1132840"/>
            <a:ext cx="3576320" cy="1371600"/>
          </a:xfrm>
          <a:prstGeom prst="roundRect">
            <a:avLst>
              <a:gd name="adj" fmla="val 16667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square" lIns="1051560" tIns="0" rIns="137160" bIns="0" anchor="ctr">
            <a:normAutofit/>
          </a:bodyPr>
          <a:lstStyle/>
          <a:p>
            <a:pPr algn="l"/>
            <a:r>
              <a:rPr lang="en-US" b="1">
                <a:solidFill>
                  <a:srgbClr val="203263"/>
                </a:solidFill>
                <a:latin typeface="Times New Roman" panose="02020603050405020304"/>
                <a:cs typeface="Times New Roman" panose="02020603050405020304"/>
              </a:rPr>
              <a:t>Project Overview – Introduction</a:t>
            </a:r>
          </a:p>
        </p:txBody>
      </p:sp>
      <p:sp>
        <p:nvSpPr>
          <p:cNvPr id="105" name="Number 2"/>
          <p:cNvSpPr/>
          <p:nvPr/>
        </p:nvSpPr>
        <p:spPr>
          <a:xfrm>
            <a:off x="4490720" y="1485900"/>
            <a:ext cx="685800" cy="685800"/>
          </a:xfrm>
          <a:prstGeom prst="ellipse">
            <a:avLst/>
          </a:prstGeom>
          <a:solidFill>
            <a:srgbClr val="203263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</a:p>
        </p:txBody>
      </p:sp>
      <p:sp>
        <p:nvSpPr>
          <p:cNvPr id="106" name="Content Card"/>
          <p:cNvSpPr/>
          <p:nvPr/>
        </p:nvSpPr>
        <p:spPr>
          <a:xfrm>
            <a:off x="8158480" y="1143000"/>
            <a:ext cx="3576320" cy="1371600"/>
          </a:xfrm>
          <a:prstGeom prst="roundRect">
            <a:avLst>
              <a:gd name="adj" fmla="val 16667"/>
            </a:avLst>
          </a:prstGeom>
          <a:solidFill>
            <a:srgbClr val="FEF5CA"/>
          </a:solidFill>
          <a:ln>
            <a:noFill/>
          </a:ln>
        </p:spPr>
        <p:txBody>
          <a:bodyPr wrap="square" lIns="1051560" tIns="0" rIns="137160" bIns="0" anchor="ctr">
            <a:normAutofit/>
          </a:bodyPr>
          <a:lstStyle/>
          <a:p>
            <a:pPr algn="l"/>
            <a:r>
              <a:rPr lang="en-US" b="1">
                <a:solidFill>
                  <a:srgbClr val="203263"/>
                </a:solidFill>
                <a:latin typeface="Times New Roman" panose="02020603050405020304"/>
                <a:cs typeface="Times New Roman" panose="02020603050405020304"/>
              </a:rPr>
              <a:t>End Users</a:t>
            </a:r>
          </a:p>
        </p:txBody>
      </p:sp>
      <p:sp>
        <p:nvSpPr>
          <p:cNvPr id="107" name="Number 3"/>
          <p:cNvSpPr/>
          <p:nvPr/>
        </p:nvSpPr>
        <p:spPr>
          <a:xfrm>
            <a:off x="8341360" y="1485900"/>
            <a:ext cx="685800" cy="685800"/>
          </a:xfrm>
          <a:prstGeom prst="ellipse">
            <a:avLst/>
          </a:prstGeom>
          <a:solidFill>
            <a:srgbClr val="203263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</a:p>
        </p:txBody>
      </p:sp>
      <p:sp>
        <p:nvSpPr>
          <p:cNvPr id="108" name="Content Card"/>
          <p:cNvSpPr/>
          <p:nvPr/>
        </p:nvSpPr>
        <p:spPr>
          <a:xfrm>
            <a:off x="457200" y="2788920"/>
            <a:ext cx="3576320" cy="1371600"/>
          </a:xfrm>
          <a:prstGeom prst="roundRect">
            <a:avLst>
              <a:gd name="adj" fmla="val 1666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wrap="square" lIns="1051560" tIns="0" rIns="137160" bIns="0" anchor="ctr">
            <a:normAutofit/>
          </a:bodyPr>
          <a:lstStyle/>
          <a:p>
            <a:pPr algn="l"/>
            <a:r>
              <a:rPr lang="en-US" b="1">
                <a:solidFill>
                  <a:srgbClr val="203263"/>
                </a:solidFill>
                <a:latin typeface="Times New Roman" panose="02020603050405020304"/>
                <a:cs typeface="Times New Roman" panose="02020603050405020304"/>
              </a:rPr>
              <a:t>Wow Factors in Project</a:t>
            </a:r>
          </a:p>
        </p:txBody>
      </p:sp>
      <p:sp>
        <p:nvSpPr>
          <p:cNvPr id="109" name="Number 4"/>
          <p:cNvSpPr/>
          <p:nvPr/>
        </p:nvSpPr>
        <p:spPr>
          <a:xfrm>
            <a:off x="640080" y="3131820"/>
            <a:ext cx="685800" cy="685800"/>
          </a:xfrm>
          <a:prstGeom prst="ellipse">
            <a:avLst/>
          </a:prstGeom>
          <a:solidFill>
            <a:srgbClr val="203263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04</a:t>
            </a:r>
          </a:p>
        </p:txBody>
      </p:sp>
      <p:sp>
        <p:nvSpPr>
          <p:cNvPr id="110" name="Content Card"/>
          <p:cNvSpPr/>
          <p:nvPr/>
        </p:nvSpPr>
        <p:spPr>
          <a:xfrm>
            <a:off x="4307840" y="2788920"/>
            <a:ext cx="3576320" cy="1371600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1051560" tIns="0" rIns="137160" bIns="0" anchor="ctr">
            <a:normAutofit/>
          </a:bodyPr>
          <a:lstStyle/>
          <a:p>
            <a:pPr algn="l"/>
            <a:r>
              <a:rPr lang="en-US" b="1">
                <a:solidFill>
                  <a:srgbClr val="203263"/>
                </a:solidFill>
                <a:latin typeface="Times New Roman" panose="02020603050405020304"/>
                <a:cs typeface="Times New Roman" panose="02020603050405020304"/>
              </a:rPr>
              <a:t>Modelling / Block Diagram / Flow of Project</a:t>
            </a:r>
          </a:p>
        </p:txBody>
      </p:sp>
      <p:sp>
        <p:nvSpPr>
          <p:cNvPr id="111" name="Number 5"/>
          <p:cNvSpPr/>
          <p:nvPr/>
        </p:nvSpPr>
        <p:spPr>
          <a:xfrm>
            <a:off x="4490720" y="3131820"/>
            <a:ext cx="685800" cy="685800"/>
          </a:xfrm>
          <a:prstGeom prst="ellipse">
            <a:avLst/>
          </a:prstGeom>
          <a:solidFill>
            <a:srgbClr val="203263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05</a:t>
            </a:r>
          </a:p>
        </p:txBody>
      </p:sp>
      <p:sp>
        <p:nvSpPr>
          <p:cNvPr id="112" name="Content Card"/>
          <p:cNvSpPr/>
          <p:nvPr/>
        </p:nvSpPr>
        <p:spPr>
          <a:xfrm>
            <a:off x="8158480" y="2788920"/>
            <a:ext cx="3576320" cy="1371600"/>
          </a:xfrm>
          <a:prstGeom prst="roundRect">
            <a:avLst>
              <a:gd name="adj" fmla="val 16667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square" lIns="1051560" tIns="0" rIns="137160" bIns="0" anchor="ctr">
            <a:normAutofit/>
          </a:bodyPr>
          <a:lstStyle/>
          <a:p>
            <a:pPr algn="l"/>
            <a:r>
              <a:rPr lang="en-US" b="1">
                <a:solidFill>
                  <a:srgbClr val="203263"/>
                </a:solidFill>
                <a:latin typeface="Times New Roman" panose="02020603050405020304"/>
                <a:cs typeface="Times New Roman" panose="02020603050405020304"/>
              </a:rPr>
              <a:t>Technology Stack</a:t>
            </a:r>
          </a:p>
        </p:txBody>
      </p:sp>
      <p:sp>
        <p:nvSpPr>
          <p:cNvPr id="113" name="Number 6"/>
          <p:cNvSpPr/>
          <p:nvPr/>
        </p:nvSpPr>
        <p:spPr>
          <a:xfrm>
            <a:off x="8341360" y="3131820"/>
            <a:ext cx="685800" cy="685800"/>
          </a:xfrm>
          <a:prstGeom prst="ellipse">
            <a:avLst/>
          </a:prstGeom>
          <a:solidFill>
            <a:srgbClr val="203263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06</a:t>
            </a:r>
          </a:p>
        </p:txBody>
      </p:sp>
      <p:sp>
        <p:nvSpPr>
          <p:cNvPr id="114" name="Content Card"/>
          <p:cNvSpPr/>
          <p:nvPr/>
        </p:nvSpPr>
        <p:spPr>
          <a:xfrm>
            <a:off x="457200" y="4434840"/>
            <a:ext cx="3576320" cy="1371600"/>
          </a:xfrm>
          <a:prstGeom prst="roundRect">
            <a:avLst>
              <a:gd name="adj" fmla="val 16667"/>
            </a:avLst>
          </a:prstGeom>
          <a:solidFill>
            <a:srgbClr val="FEF5CA"/>
          </a:solidFill>
          <a:ln>
            <a:noFill/>
          </a:ln>
        </p:spPr>
        <p:txBody>
          <a:bodyPr wrap="square" lIns="1051560" tIns="0" rIns="137160" bIns="0" anchor="ctr">
            <a:normAutofit/>
          </a:bodyPr>
          <a:lstStyle/>
          <a:p>
            <a:pPr algn="l"/>
            <a:r>
              <a:rPr lang="en-US" b="1">
                <a:solidFill>
                  <a:srgbClr val="203263"/>
                </a:solidFill>
                <a:latin typeface="Times New Roman" panose="02020603050405020304"/>
                <a:cs typeface="Times New Roman" panose="02020603050405020304"/>
              </a:rPr>
              <a:t>Result / Outcomes</a:t>
            </a:r>
          </a:p>
        </p:txBody>
      </p:sp>
      <p:sp>
        <p:nvSpPr>
          <p:cNvPr id="115" name="Number 7"/>
          <p:cNvSpPr/>
          <p:nvPr/>
        </p:nvSpPr>
        <p:spPr>
          <a:xfrm>
            <a:off x="640080" y="4777740"/>
            <a:ext cx="685800" cy="685800"/>
          </a:xfrm>
          <a:prstGeom prst="ellipse">
            <a:avLst/>
          </a:prstGeom>
          <a:solidFill>
            <a:srgbClr val="203263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07</a:t>
            </a:r>
          </a:p>
        </p:txBody>
      </p:sp>
      <p:sp>
        <p:nvSpPr>
          <p:cNvPr id="116" name="Content Card"/>
          <p:cNvSpPr/>
          <p:nvPr/>
        </p:nvSpPr>
        <p:spPr>
          <a:xfrm>
            <a:off x="4307840" y="4434840"/>
            <a:ext cx="3576320" cy="1371600"/>
          </a:xfrm>
          <a:prstGeom prst="roundRect">
            <a:avLst>
              <a:gd name="adj" fmla="val 1666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wrap="square" lIns="1051560" tIns="0" rIns="137160" bIns="0" anchor="ctr">
            <a:normAutofit/>
          </a:bodyPr>
          <a:lstStyle/>
          <a:p>
            <a:pPr algn="l"/>
            <a:r>
              <a:rPr lang="en-US" b="1">
                <a:solidFill>
                  <a:srgbClr val="203263"/>
                </a:solidFill>
                <a:latin typeface="Times New Roman" panose="02020603050405020304"/>
                <a:cs typeface="Times New Roman" panose="02020603050405020304"/>
              </a:rPr>
              <a:t>Conclusion</a:t>
            </a:r>
          </a:p>
        </p:txBody>
      </p:sp>
      <p:sp>
        <p:nvSpPr>
          <p:cNvPr id="117" name="Number 8"/>
          <p:cNvSpPr/>
          <p:nvPr/>
        </p:nvSpPr>
        <p:spPr>
          <a:xfrm>
            <a:off x="4490720" y="4777740"/>
            <a:ext cx="685800" cy="685800"/>
          </a:xfrm>
          <a:prstGeom prst="ellipse">
            <a:avLst/>
          </a:prstGeom>
          <a:solidFill>
            <a:srgbClr val="203263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08</a:t>
            </a:r>
          </a:p>
        </p:txBody>
      </p:sp>
      <p:sp>
        <p:nvSpPr>
          <p:cNvPr id="118" name="Content Card"/>
          <p:cNvSpPr/>
          <p:nvPr/>
        </p:nvSpPr>
        <p:spPr>
          <a:xfrm>
            <a:off x="8158480" y="4434840"/>
            <a:ext cx="3576320" cy="1371600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1051560" tIns="0" rIns="137160" bIns="0" anchor="ctr">
            <a:normAutofit/>
          </a:bodyPr>
          <a:lstStyle/>
          <a:p>
            <a:pPr algn="l"/>
            <a:r>
              <a:rPr lang="en-US" b="1">
                <a:solidFill>
                  <a:srgbClr val="203263"/>
                </a:solidFill>
                <a:latin typeface="Times New Roman" panose="02020603050405020304"/>
                <a:cs typeface="Times New Roman" panose="02020603050405020304"/>
              </a:rPr>
              <a:t>Future Perspective</a:t>
            </a:r>
          </a:p>
        </p:txBody>
      </p:sp>
      <p:sp>
        <p:nvSpPr>
          <p:cNvPr id="119" name="Number 9"/>
          <p:cNvSpPr/>
          <p:nvPr/>
        </p:nvSpPr>
        <p:spPr>
          <a:xfrm>
            <a:off x="8341360" y="4777740"/>
            <a:ext cx="685800" cy="685800"/>
          </a:xfrm>
          <a:prstGeom prst="ellipse">
            <a:avLst/>
          </a:prstGeom>
          <a:solidFill>
            <a:srgbClr val="203263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itle"/>
          <p:cNvSpPr txBox="1"/>
          <p:nvPr/>
        </p:nvSpPr>
        <p:spPr>
          <a:xfrm>
            <a:off x="146304" y="100584"/>
            <a:ext cx="9000000" cy="3936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 lnSpcReduction="10000"/>
          </a:bodyPr>
          <a:lstStyle/>
          <a:p>
            <a:pPr algn="l"/>
            <a:r>
              <a:rPr lang="en-US" sz="2200" b="1" u="sng">
                <a:solidFill>
                  <a:srgbClr val="002060"/>
                </a:solidFill>
                <a:latin typeface="Times New Roman" panose="02020603050405020304"/>
                <a:cs typeface="Times New Roman" panose="02020603050405020304"/>
              </a:rPr>
              <a:t>Problem Statement</a:t>
            </a:r>
          </a:p>
        </p:txBody>
      </p:sp>
      <p:sp>
        <p:nvSpPr>
          <p:cNvPr id="121" name="Content Card"/>
          <p:cNvSpPr/>
          <p:nvPr/>
        </p:nvSpPr>
        <p:spPr>
          <a:xfrm>
            <a:off x="457200" y="914400"/>
            <a:ext cx="11274552" cy="5440680"/>
          </a:xfrm>
          <a:prstGeom prst="roundRect">
            <a:avLst>
              <a:gd name="adj" fmla="val 3000"/>
            </a:avLst>
          </a:prstGeom>
          <a:solidFill>
            <a:srgbClr val="EEF5FA"/>
          </a:solidFill>
          <a:ln w="19050">
            <a:solidFill>
              <a:srgbClr val="9CC3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Problem box 1"/>
          <p:cNvSpPr/>
          <p:nvPr/>
        </p:nvSpPr>
        <p:spPr>
          <a:xfrm>
            <a:off x="731520" y="1188720"/>
            <a:ext cx="3383280" cy="3611880"/>
          </a:xfrm>
          <a:prstGeom prst="roundRect">
            <a:avLst>
              <a:gd name="adj" fmla="val 12000"/>
            </a:avLst>
          </a:prstGeom>
          <a:solidFill>
            <a:srgbClr val="0B3C5D"/>
          </a:solidFill>
          <a:ln w="15875">
            <a:solidFill>
              <a:srgbClr val="062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37160"/>
          <a:lstStyle/>
          <a:p>
            <a:pPr algn="l">
              <a:spcAft>
                <a:spcPts val="10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1. Overheating Under Load</a:t>
            </a:r>
          </a:p>
          <a:p>
            <a:pPr algn="l" marL="228600" indent="-228600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FFFFFF"/>
                </a:solidFill>
                <a:latin typeface="Calibri"/>
              </a:rPr>
              <a:t>Highway and hill-climb bursts push cell current past 10 A.</a:t>
            </a:r>
          </a:p>
          <a:p>
            <a:pPr algn="l" marL="228600" indent="-228600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FFFFFF"/>
                </a:solidFill>
                <a:latin typeface="Calibri"/>
              </a:rPr>
              <a:t>With no cooling, the core peaks at 44.2°C.</a:t>
            </a:r>
          </a:p>
          <a:p>
            <a:pPr algn="l" marL="228600" indent="-228600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FFFFFF"/>
                </a:solidFill>
                <a:latin typeface="Calibri"/>
              </a:rPr>
              <a:t>The core stays above 35°C for 58.4% of the run.</a:t>
            </a:r>
          </a:p>
        </p:txBody>
      </p:sp>
      <p:sp>
        <p:nvSpPr>
          <p:cNvPr id="123" name="Problem box 2"/>
          <p:cNvSpPr/>
          <p:nvPr/>
        </p:nvSpPr>
        <p:spPr>
          <a:xfrm>
            <a:off x="4361688" y="1188720"/>
            <a:ext cx="3383280" cy="3611880"/>
          </a:xfrm>
          <a:prstGeom prst="roundRect">
            <a:avLst>
              <a:gd name="adj" fmla="val 12000"/>
            </a:avLst>
          </a:prstGeom>
          <a:solidFill>
            <a:srgbClr val="0B3C5D"/>
          </a:solidFill>
          <a:ln w="15875">
            <a:solidFill>
              <a:srgbClr val="062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37160"/>
          <a:lstStyle/>
          <a:p>
            <a:pPr algn="l">
              <a:spcAft>
                <a:spcPts val="10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2. Reactive Cooling Lags</a:t>
            </a:r>
          </a:p>
          <a:p>
            <a:pPr algn="l" marL="228600" indent="-228600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FFFFFF"/>
                </a:solidFill>
                <a:latin typeface="Calibri"/>
              </a:rPr>
              <a:t>Bang-bang cooling waits until the surface reaches 34°C.</a:t>
            </a:r>
          </a:p>
          <a:p>
            <a:pPr algn="l" marL="228600" indent="-228600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FFFFFF"/>
                </a:solidFill>
                <a:latin typeface="Calibri"/>
              </a:rPr>
              <a:t>Core still peaks at 36.8°C and is over 35°C for 14.2% of the run.</a:t>
            </a:r>
          </a:p>
          <a:p>
            <a:pPr algn="l" marL="228600" indent="-228600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FFFFFF"/>
                </a:solidFill>
                <a:latin typeface="Calibri"/>
              </a:rPr>
              <a:t>On/off switching gives a high wear score of 14.2.</a:t>
            </a:r>
          </a:p>
        </p:txBody>
      </p:sp>
      <p:sp>
        <p:nvSpPr>
          <p:cNvPr id="124" name="Problem box 3"/>
          <p:cNvSpPr/>
          <p:nvPr/>
        </p:nvSpPr>
        <p:spPr>
          <a:xfrm>
            <a:off x="7991856" y="1188720"/>
            <a:ext cx="3383280" cy="3611880"/>
          </a:xfrm>
          <a:prstGeom prst="roundRect">
            <a:avLst>
              <a:gd name="adj" fmla="val 12000"/>
            </a:avLst>
          </a:prstGeom>
          <a:solidFill>
            <a:srgbClr val="0B3C5D"/>
          </a:solidFill>
          <a:ln w="15875">
            <a:solidFill>
              <a:srgbClr val="062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37160"/>
          <a:lstStyle/>
          <a:p>
            <a:pPr algn="l">
              <a:spcAft>
                <a:spcPts val="10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3. Cooling Costs Energy</a:t>
            </a:r>
          </a:p>
          <a:p>
            <a:pPr algn="l" marL="228600" indent="-228600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FFFFFF"/>
                </a:solidFill>
                <a:latin typeface="Calibri"/>
              </a:rPr>
              <a:t>Pump power grows with flow cubed (P ∝ u³).</a:t>
            </a:r>
          </a:p>
          <a:p>
            <a:pPr algn="l" marL="228600" indent="-228600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FFFFFF"/>
                </a:solidFill>
                <a:latin typeface="Calibri"/>
              </a:rPr>
              <a:t>Hard, late cooling is wasteful: 1.75 Wh for bang-bang.</a:t>
            </a:r>
          </a:p>
          <a:p>
            <a:pPr algn="l" marL="228600" indent="-228600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FFFFFF"/>
                </a:solidFill>
                <a:latin typeface="Calibri"/>
              </a:rPr>
              <a:t>Cooling must start early and stay just strong enough.</a:t>
            </a:r>
          </a:p>
        </p:txBody>
      </p:sp>
      <p:sp>
        <p:nvSpPr>
          <p:cNvPr id="125" name="Goal box"/>
          <p:cNvSpPr/>
          <p:nvPr/>
        </p:nvSpPr>
        <p:spPr>
          <a:xfrm>
            <a:off x="731520" y="5074920"/>
            <a:ext cx="10725912" cy="914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0B3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700" b="1" i="0">
                <a:solidFill>
                  <a:srgbClr val="0B3C5D"/>
                </a:solidFill>
                <a:latin typeface="Calibri"/>
              </a:rPr>
              <a:t>Project Goal: </a:t>
            </a:r>
            <a:r>
              <a:rPr sz="1700" b="0" i="0">
                <a:solidFill>
                  <a:srgbClr val="1F2933"/>
                </a:solidFill>
                <a:latin typeface="Calibri"/>
              </a:rPr>
              <a:t>Build an interactive physics + ML simulator that compares four cooling strategies on a 21700 battery cell and finds the one that protects it with the least pump energy.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itle"/>
          <p:cNvSpPr txBox="1"/>
          <p:nvPr/>
        </p:nvSpPr>
        <p:spPr>
          <a:xfrm>
            <a:off x="146304" y="100584"/>
            <a:ext cx="9000000" cy="3936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 lnSpcReduction="10000"/>
          </a:bodyPr>
          <a:lstStyle/>
          <a:p>
            <a:pPr algn="l"/>
            <a:r>
              <a:rPr lang="en-US" sz="2200" b="1" u="sng">
                <a:solidFill>
                  <a:srgbClr val="002060"/>
                </a:solidFill>
                <a:latin typeface="Times New Roman" panose="02020603050405020304"/>
                <a:cs typeface="Times New Roman" panose="02020603050405020304"/>
              </a:rPr>
              <a:t>Project Overview - Introduction</a:t>
            </a:r>
          </a:p>
        </p:txBody>
      </p:sp>
      <p:sp>
        <p:nvSpPr>
          <p:cNvPr id="123" name="Content Card"/>
          <p:cNvSpPr/>
          <p:nvPr/>
        </p:nvSpPr>
        <p:spPr>
          <a:xfrm>
            <a:off x="457200" y="914400"/>
            <a:ext cx="11274552" cy="5440680"/>
          </a:xfrm>
          <a:prstGeom prst="roundRect">
            <a:avLst>
              <a:gd name="adj" fmla="val 3000"/>
            </a:avLst>
          </a:prstGeom>
          <a:solidFill>
            <a:srgbClr val="EEF5FA"/>
          </a:solidFill>
          <a:ln w="19050">
            <a:solidFill>
              <a:srgbClr val="9CC3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Intro box"/>
          <p:cNvSpPr/>
          <p:nvPr/>
        </p:nvSpPr>
        <p:spPr>
          <a:xfrm>
            <a:off x="731520" y="1143000"/>
            <a:ext cx="5852160" cy="1371600"/>
          </a:xfrm>
          <a:prstGeom prst="roundRect">
            <a:avLst>
              <a:gd name="adj" fmla="val 10000"/>
            </a:avLst>
          </a:prstGeom>
          <a:solidFill>
            <a:srgbClr val="0B3C5D"/>
          </a:solidFill>
          <a:ln w="15875">
            <a:solidFill>
              <a:srgbClr val="062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 rIns="182880" bIns="73152"/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The EV Battery Thermal &amp; Cooling Simulation is a browser dashboard that models a 21700 cell with a two-state thermal model and compares four cooling strategies live, including an ML look-ahead controller.</a:t>
            </a:r>
          </a:p>
        </p:txBody>
      </p:sp>
      <p:sp>
        <p:nvSpPr>
          <p:cNvPr id="125" name="Feature row 1"/>
          <p:cNvSpPr/>
          <p:nvPr/>
        </p:nvSpPr>
        <p:spPr>
          <a:xfrm>
            <a:off x="731520" y="2743200"/>
            <a:ext cx="58521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9CC3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8288" bIns="18288"/>
          <a:lstStyle/>
          <a:p>
            <a:pPr algn="l"/>
            <a:r>
              <a:rPr sz="1500" b="0" i="0">
                <a:solidFill>
                  <a:srgbClr val="1F2933"/>
                </a:solidFill>
                <a:latin typeface="Calibri"/>
              </a:rPr>
              <a:t>Two-state (core / surface) lumped thermal model.</a:t>
            </a:r>
          </a:p>
        </p:txBody>
      </p:sp>
      <p:sp>
        <p:nvSpPr>
          <p:cNvPr id="126" name="Feature row 2"/>
          <p:cNvSpPr/>
          <p:nvPr/>
        </p:nvSpPr>
        <p:spPr>
          <a:xfrm>
            <a:off x="731520" y="3310128"/>
            <a:ext cx="58521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9CC3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8288" bIns="18288"/>
          <a:lstStyle/>
          <a:p>
            <a:pPr algn="l"/>
            <a:r>
              <a:rPr sz="1500" b="0" i="0">
                <a:solidFill>
                  <a:srgbClr val="1F2933"/>
                </a:solidFill>
                <a:latin typeface="Calibri"/>
              </a:rPr>
              <a:t>Bernardi heat generation with temperature and aging effects.</a:t>
            </a:r>
          </a:p>
        </p:txBody>
      </p:sp>
      <p:sp>
        <p:nvSpPr>
          <p:cNvPr id="127" name="Feature row 3"/>
          <p:cNvSpPr/>
          <p:nvPr/>
        </p:nvSpPr>
        <p:spPr>
          <a:xfrm>
            <a:off x="731520" y="3877056"/>
            <a:ext cx="58521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9CC3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8288" bIns="18288"/>
          <a:lstStyle/>
          <a:p>
            <a:pPr algn="l"/>
            <a:r>
              <a:rPr sz="1500" b="0" i="0">
                <a:solidFill>
                  <a:srgbClr val="1F2933"/>
                </a:solidFill>
                <a:latin typeface="Calibri"/>
              </a:rPr>
              <a:t>Four strategies: Passive, Bang-Bang, PID and ML Look-Ahead.</a:t>
            </a:r>
          </a:p>
        </p:txBody>
      </p:sp>
      <p:sp>
        <p:nvSpPr>
          <p:cNvPr id="128" name="Feature row 4"/>
          <p:cNvSpPr/>
          <p:nvPr/>
        </p:nvSpPr>
        <p:spPr>
          <a:xfrm>
            <a:off x="731520" y="4443983"/>
            <a:ext cx="58521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9CC3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8288" bIns="18288"/>
          <a:lstStyle/>
          <a:p>
            <a:pPr algn="l"/>
            <a:r>
              <a:rPr sz="1500" b="0" i="0">
                <a:solidFill>
                  <a:srgbClr val="1F2933"/>
                </a:solidFill>
                <a:latin typeface="Calibri"/>
              </a:rPr>
              <a:t>Live waveforms, metrics and a 21700 cell thermal view.</a:t>
            </a:r>
          </a:p>
        </p:txBody>
      </p:sp>
      <p:sp>
        <p:nvSpPr>
          <p:cNvPr id="129" name="Feature row 5"/>
          <p:cNvSpPr/>
          <p:nvPr/>
        </p:nvSpPr>
        <p:spPr>
          <a:xfrm>
            <a:off x="731520" y="5010912"/>
            <a:ext cx="58521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9CC3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8288" bIns="18288"/>
          <a:lstStyle/>
          <a:p>
            <a:pPr algn="l"/>
            <a:r>
              <a:rPr sz="1500" b="0" i="0">
                <a:solidFill>
                  <a:srgbClr val="1F2933"/>
                </a:solidFill>
                <a:latin typeface="Calibri"/>
              </a:rPr>
              <a:t>Four load profiles, including NASA B0005 and fast charge.</a:t>
            </a:r>
          </a:p>
        </p:txBody>
      </p:sp>
      <p:sp>
        <p:nvSpPr>
          <p:cNvPr id="130" name="Feature row 6"/>
          <p:cNvSpPr/>
          <p:nvPr/>
        </p:nvSpPr>
        <p:spPr>
          <a:xfrm>
            <a:off x="731520" y="5577840"/>
            <a:ext cx="58521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9CC3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8288" bIns="18288"/>
          <a:lstStyle/>
          <a:p>
            <a:pPr algn="l"/>
            <a:r>
              <a:rPr sz="1500" b="0" i="0">
                <a:solidFill>
                  <a:srgbClr val="1F2933"/>
                </a:solidFill>
                <a:latin typeface="Calibri"/>
              </a:rPr>
              <a:t>Live benchmark table comparing all four strategies.</a:t>
            </a:r>
          </a:p>
        </p:txBody>
      </p:sp>
      <p:sp>
        <p:nvSpPr>
          <p:cNvPr id="131" name="Stat tile 1"/>
          <p:cNvSpPr/>
          <p:nvPr/>
        </p:nvSpPr>
        <p:spPr>
          <a:xfrm>
            <a:off x="7040880" y="1143000"/>
            <a:ext cx="2103120" cy="2194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B3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594360" rIns="109728"/>
          <a:lstStyle/>
          <a:p>
            <a:pPr algn="ctr">
              <a:spcAft>
                <a:spcPts val="400"/>
              </a:spcAft>
            </a:pPr>
            <a:r>
              <a:rPr sz="4000" b="1" i="0">
                <a:solidFill>
                  <a:srgbClr val="0B3C5D"/>
                </a:solidFill>
                <a:latin typeface="Calibri"/>
              </a:rPr>
              <a:t>21700</a:t>
            </a:r>
          </a:p>
          <a:p>
            <a:pPr algn="ctr"/>
            <a:r>
              <a:rPr sz="1500" b="0" i="0">
                <a:solidFill>
                  <a:srgbClr val="1F2933"/>
                </a:solidFill>
                <a:latin typeface="Calibri"/>
              </a:rPr>
              <a:t>cell format modelled</a:t>
            </a:r>
          </a:p>
        </p:txBody>
      </p:sp>
      <p:sp>
        <p:nvSpPr>
          <p:cNvPr id="132" name="Stat tile 2"/>
          <p:cNvSpPr/>
          <p:nvPr/>
        </p:nvSpPr>
        <p:spPr>
          <a:xfrm>
            <a:off x="9326880" y="1143000"/>
            <a:ext cx="2103120" cy="2194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B3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594360" rIns="109728"/>
          <a:lstStyle/>
          <a:p>
            <a:pPr algn="ctr">
              <a:spcAft>
                <a:spcPts val="400"/>
              </a:spcAft>
            </a:pPr>
            <a:r>
              <a:rPr sz="4000" b="1" i="0">
                <a:solidFill>
                  <a:srgbClr val="0B3C5D"/>
                </a:solidFill>
                <a:latin typeface="Calibri"/>
              </a:rPr>
              <a:t>2</a:t>
            </a:r>
          </a:p>
          <a:p>
            <a:pPr algn="ctr"/>
            <a:r>
              <a:rPr sz="1500" b="0" i="0">
                <a:solidFill>
                  <a:srgbClr val="1F2933"/>
                </a:solidFill>
                <a:latin typeface="Calibri"/>
              </a:rPr>
              <a:t>thermal states: core and surface</a:t>
            </a:r>
          </a:p>
        </p:txBody>
      </p:sp>
      <p:sp>
        <p:nvSpPr>
          <p:cNvPr id="133" name="Stat tile 3"/>
          <p:cNvSpPr/>
          <p:nvPr/>
        </p:nvSpPr>
        <p:spPr>
          <a:xfrm>
            <a:off x="7040880" y="3520440"/>
            <a:ext cx="2103120" cy="2194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B3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594360" rIns="109728"/>
          <a:lstStyle/>
          <a:p>
            <a:pPr algn="ctr">
              <a:spcAft>
                <a:spcPts val="400"/>
              </a:spcAft>
            </a:pPr>
            <a:r>
              <a:rPr sz="4000" b="1" i="0">
                <a:solidFill>
                  <a:srgbClr val="0B3C5D"/>
                </a:solidFill>
                <a:latin typeface="Calibri"/>
              </a:rPr>
              <a:t>4</a:t>
            </a:r>
          </a:p>
          <a:p>
            <a:pPr algn="ctr"/>
            <a:r>
              <a:rPr sz="1500" b="0" i="0">
                <a:solidFill>
                  <a:srgbClr val="1F2933"/>
                </a:solidFill>
                <a:latin typeface="Calibri"/>
              </a:rPr>
              <a:t>cooling strategies compared</a:t>
            </a:r>
          </a:p>
        </p:txBody>
      </p:sp>
      <p:sp>
        <p:nvSpPr>
          <p:cNvPr id="134" name="Stat tile 4"/>
          <p:cNvSpPr/>
          <p:nvPr/>
        </p:nvSpPr>
        <p:spPr>
          <a:xfrm>
            <a:off x="9326880" y="3520440"/>
            <a:ext cx="2103120" cy="2194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B3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594360" rIns="109728"/>
          <a:lstStyle/>
          <a:p>
            <a:pPr algn="ctr">
              <a:spcAft>
                <a:spcPts val="400"/>
              </a:spcAft>
            </a:pPr>
            <a:r>
              <a:rPr sz="4000" b="1" i="0">
                <a:solidFill>
                  <a:srgbClr val="0B3C5D"/>
                </a:solidFill>
                <a:latin typeface="Calibri"/>
              </a:rPr>
              <a:t>4</a:t>
            </a:r>
          </a:p>
          <a:p>
            <a:pPr algn="ctr"/>
            <a:r>
              <a:rPr sz="1500" b="0" i="0">
                <a:solidFill>
                  <a:srgbClr val="1F2933"/>
                </a:solidFill>
                <a:latin typeface="Calibri"/>
              </a:rPr>
              <a:t>drive-load profiles</a:t>
            </a:r>
          </a:p>
        </p:txBody>
      </p:sp>
      <p:sp>
        <p:nvSpPr>
          <p:cNvPr id="135" name="Caption"/>
          <p:cNvSpPr txBox="1"/>
          <p:nvPr/>
        </p:nvSpPr>
        <p:spPr>
          <a:xfrm>
            <a:off x="7040880" y="5943600"/>
            <a:ext cx="438912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300" b="0" i="1">
                <a:solidFill>
                  <a:srgbClr val="52606D"/>
                </a:solidFill>
                <a:latin typeface="Calibri"/>
              </a:rPr>
              <a:t>Model at a glance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itle"/>
          <p:cNvSpPr txBox="1"/>
          <p:nvPr/>
        </p:nvSpPr>
        <p:spPr>
          <a:xfrm>
            <a:off x="146304" y="100584"/>
            <a:ext cx="9000000" cy="3936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 lnSpcReduction="10000"/>
          </a:bodyPr>
          <a:lstStyle/>
          <a:p>
            <a:pPr algn="l"/>
            <a:r>
              <a:rPr lang="en-US" sz="2200" b="1" u="sng">
                <a:solidFill>
                  <a:srgbClr val="002060"/>
                </a:solidFill>
                <a:latin typeface="Times New Roman" panose="02020603050405020304"/>
                <a:cs typeface="Times New Roman" panose="02020603050405020304"/>
              </a:rPr>
              <a:t>End Users</a:t>
            </a:r>
          </a:p>
        </p:txBody>
      </p:sp>
      <p:sp>
        <p:nvSpPr>
          <p:cNvPr id="125" name="Content Card"/>
          <p:cNvSpPr/>
          <p:nvPr/>
        </p:nvSpPr>
        <p:spPr>
          <a:xfrm>
            <a:off x="457200" y="914400"/>
            <a:ext cx="11274552" cy="5440680"/>
          </a:xfrm>
          <a:prstGeom prst="roundRect">
            <a:avLst>
              <a:gd name="adj" fmla="val 3000"/>
            </a:avLst>
          </a:prstGeom>
          <a:solidFill>
            <a:srgbClr val="EEF5FA"/>
          </a:solidFill>
          <a:ln w="19050">
            <a:solidFill>
              <a:srgbClr val="9CC3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User card 1"/>
          <p:cNvSpPr/>
          <p:nvPr/>
        </p:nvSpPr>
        <p:spPr>
          <a:xfrm>
            <a:off x="731520" y="1188720"/>
            <a:ext cx="2542032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B3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Icon circle"/>
          <p:cNvSpPr/>
          <p:nvPr/>
        </p:nvSpPr>
        <p:spPr>
          <a:xfrm>
            <a:off x="1568195" y="1531619"/>
            <a:ext cx="868680" cy="86868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8" name="Icon FaMicrochip" descr="FaMicrochip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76679" y="1740103"/>
            <a:ext cx="451713" cy="451713"/>
          </a:xfrm>
          <a:prstGeom prst="rect">
            <a:avLst/>
          </a:prstGeom>
        </p:spPr>
      </p:pic>
      <p:sp>
        <p:nvSpPr>
          <p:cNvPr id="129" name="User title 1"/>
          <p:cNvSpPr txBox="1"/>
          <p:nvPr/>
        </p:nvSpPr>
        <p:spPr>
          <a:xfrm>
            <a:off x="822960" y="2560320"/>
            <a:ext cx="2359152" cy="7772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800" b="1" i="0">
                <a:solidFill>
                  <a:srgbClr val="0B3C5D"/>
                </a:solidFill>
                <a:latin typeface="Calibri"/>
              </a:rPr>
              <a:t>EV Thermal / BMS Engineers</a:t>
            </a:r>
          </a:p>
        </p:txBody>
      </p:sp>
      <p:sp>
        <p:nvSpPr>
          <p:cNvPr id="130" name="User desc 1"/>
          <p:cNvSpPr txBox="1"/>
          <p:nvPr/>
        </p:nvSpPr>
        <p:spPr>
          <a:xfrm>
            <a:off x="868680" y="3429000"/>
            <a:ext cx="2267712" cy="1463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600" b="0" i="0">
                <a:solidFill>
                  <a:srgbClr val="1F2933"/>
                </a:solidFill>
                <a:latin typeface="Calibri"/>
              </a:rPr>
              <a:t>Compare cooling controllers before building any hardware.</a:t>
            </a:r>
          </a:p>
        </p:txBody>
      </p:sp>
      <p:sp>
        <p:nvSpPr>
          <p:cNvPr id="131" name="User card 2"/>
          <p:cNvSpPr/>
          <p:nvPr/>
        </p:nvSpPr>
        <p:spPr>
          <a:xfrm>
            <a:off x="3456432" y="1188720"/>
            <a:ext cx="2542032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B3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Icon circle"/>
          <p:cNvSpPr/>
          <p:nvPr/>
        </p:nvSpPr>
        <p:spPr>
          <a:xfrm>
            <a:off x="4293108" y="1531619"/>
            <a:ext cx="868680" cy="86868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3" name="Icon FaMicroscope" descr="FaMicroscope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01591" y="1740103"/>
            <a:ext cx="451713" cy="451713"/>
          </a:xfrm>
          <a:prstGeom prst="rect">
            <a:avLst/>
          </a:prstGeom>
        </p:spPr>
      </p:pic>
      <p:sp>
        <p:nvSpPr>
          <p:cNvPr id="134" name="User title 2"/>
          <p:cNvSpPr txBox="1"/>
          <p:nvPr/>
        </p:nvSpPr>
        <p:spPr>
          <a:xfrm>
            <a:off x="3547872" y="2560320"/>
            <a:ext cx="2359152" cy="7772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800" b="1" i="0">
                <a:solidFill>
                  <a:srgbClr val="0B3C5D"/>
                </a:solidFill>
                <a:latin typeface="Calibri"/>
              </a:rPr>
              <a:t>Battery Researchers</a:t>
            </a:r>
          </a:p>
        </p:txBody>
      </p:sp>
      <p:sp>
        <p:nvSpPr>
          <p:cNvPr id="135" name="User desc 2"/>
          <p:cNvSpPr txBox="1"/>
          <p:nvPr/>
        </p:nvSpPr>
        <p:spPr>
          <a:xfrm>
            <a:off x="3593592" y="3429000"/>
            <a:ext cx="2267712" cy="1463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600" b="0" i="0">
                <a:solidFill>
                  <a:srgbClr val="1F2933"/>
                </a:solidFill>
                <a:latin typeface="Calibri"/>
              </a:rPr>
              <a:t>Study heat generation, aging and the core-to-surface gradient.</a:t>
            </a:r>
          </a:p>
        </p:txBody>
      </p:sp>
      <p:sp>
        <p:nvSpPr>
          <p:cNvPr id="136" name="User card 3"/>
          <p:cNvSpPr/>
          <p:nvPr/>
        </p:nvSpPr>
        <p:spPr>
          <a:xfrm>
            <a:off x="6181344" y="1188720"/>
            <a:ext cx="2542032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B3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Icon circle"/>
          <p:cNvSpPr/>
          <p:nvPr/>
        </p:nvSpPr>
        <p:spPr>
          <a:xfrm>
            <a:off x="7018020" y="1531619"/>
            <a:ext cx="868680" cy="86868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8" name="Icon FaChalkboardTeacher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6503" y="1740103"/>
            <a:ext cx="451713" cy="451713"/>
          </a:xfrm>
          <a:prstGeom prst="rect">
            <a:avLst/>
          </a:prstGeom>
        </p:spPr>
      </p:pic>
      <p:sp>
        <p:nvSpPr>
          <p:cNvPr id="139" name="User title 3"/>
          <p:cNvSpPr txBox="1"/>
          <p:nvPr/>
        </p:nvSpPr>
        <p:spPr>
          <a:xfrm>
            <a:off x="6272783" y="2560320"/>
            <a:ext cx="2359152" cy="7772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800" b="1" i="0">
                <a:solidFill>
                  <a:srgbClr val="0B3C5D"/>
                </a:solidFill>
                <a:latin typeface="Calibri"/>
              </a:rPr>
              <a:t>Students &amp; Educators</a:t>
            </a:r>
          </a:p>
        </p:txBody>
      </p:sp>
      <p:sp>
        <p:nvSpPr>
          <p:cNvPr id="140" name="User desc 3"/>
          <p:cNvSpPr txBox="1"/>
          <p:nvPr/>
        </p:nvSpPr>
        <p:spPr>
          <a:xfrm>
            <a:off x="6318504" y="3429000"/>
            <a:ext cx="2267712" cy="1463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600" b="0" i="0">
                <a:solidFill>
                  <a:srgbClr val="1F2933"/>
                </a:solidFill>
                <a:latin typeface="Calibri"/>
              </a:rPr>
              <a:t>Teach thermal management and control with a live demo.</a:t>
            </a:r>
          </a:p>
        </p:txBody>
      </p:sp>
      <p:sp>
        <p:nvSpPr>
          <p:cNvPr id="141" name="User card 4"/>
          <p:cNvSpPr/>
          <p:nvPr/>
        </p:nvSpPr>
        <p:spPr>
          <a:xfrm>
            <a:off x="8906256" y="1188720"/>
            <a:ext cx="2542032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B3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Icon circle"/>
          <p:cNvSpPr/>
          <p:nvPr/>
        </p:nvSpPr>
        <p:spPr>
          <a:xfrm>
            <a:off x="9742932" y="1531619"/>
            <a:ext cx="868680" cy="86868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3" name="Icon FaCogs" descr="FaCogs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51415" y="1740103"/>
            <a:ext cx="451713" cy="451713"/>
          </a:xfrm>
          <a:prstGeom prst="rect">
            <a:avLst/>
          </a:prstGeom>
        </p:spPr>
      </p:pic>
      <p:sp>
        <p:nvSpPr>
          <p:cNvPr id="144" name="User title 4"/>
          <p:cNvSpPr txBox="1"/>
          <p:nvPr/>
        </p:nvSpPr>
        <p:spPr>
          <a:xfrm>
            <a:off x="8997696" y="2560320"/>
            <a:ext cx="2359152" cy="7772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800" b="1" i="0">
                <a:solidFill>
                  <a:srgbClr val="0B3C5D"/>
                </a:solidFill>
                <a:latin typeface="Calibri"/>
              </a:rPr>
              <a:t>Pack &amp; Cooling Designers</a:t>
            </a:r>
          </a:p>
        </p:txBody>
      </p:sp>
      <p:sp>
        <p:nvSpPr>
          <p:cNvPr id="145" name="User desc 4"/>
          <p:cNvSpPr txBox="1"/>
          <p:nvPr/>
        </p:nvSpPr>
        <p:spPr>
          <a:xfrm>
            <a:off x="9043416" y="3429000"/>
            <a:ext cx="2267712" cy="1463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600" b="0" i="0">
                <a:solidFill>
                  <a:srgbClr val="1F2933"/>
                </a:solidFill>
                <a:latin typeface="Calibri"/>
              </a:rPr>
              <a:t>Judge pump energy against protection when sizing cooling.</a:t>
            </a:r>
          </a:p>
        </p:txBody>
      </p:sp>
      <p:sp>
        <p:nvSpPr>
          <p:cNvPr id="146" name="Tagline strip"/>
          <p:cNvSpPr/>
          <p:nvPr/>
        </p:nvSpPr>
        <p:spPr>
          <a:xfrm>
            <a:off x="731520" y="5303520"/>
            <a:ext cx="10725912" cy="685800"/>
          </a:xfrm>
          <a:prstGeom prst="roundRect">
            <a:avLst>
              <a:gd name="adj" fmla="val 20000"/>
            </a:avLst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 rIns="137160" bIns="91440"/>
          <a:lstStyle/>
          <a:p>
            <a:pPr algn="ctr"/>
            <a:r>
              <a:rPr sz="1900" b="1" i="0">
                <a:solidFill>
                  <a:srgbClr val="FFFFFF"/>
                </a:solidFill>
                <a:latin typeface="Calibri"/>
              </a:rPr>
              <a:t>One platform to model  •  predict  •  cool  •  save energy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itle"/>
          <p:cNvSpPr txBox="1"/>
          <p:nvPr/>
        </p:nvSpPr>
        <p:spPr>
          <a:xfrm>
            <a:off x="146304" y="100584"/>
            <a:ext cx="9000000" cy="3936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 lnSpcReduction="10000"/>
          </a:bodyPr>
          <a:lstStyle/>
          <a:p>
            <a:pPr algn="l"/>
            <a:r>
              <a:rPr lang="en-US" sz="2200" b="1" u="sng">
                <a:solidFill>
                  <a:srgbClr val="002060"/>
                </a:solidFill>
                <a:latin typeface="Times New Roman" panose="02020603050405020304"/>
                <a:cs typeface="Times New Roman" panose="02020603050405020304"/>
              </a:rPr>
              <a:t>Wow Factors in Project</a:t>
            </a:r>
          </a:p>
        </p:txBody>
      </p:sp>
      <p:sp>
        <p:nvSpPr>
          <p:cNvPr id="127" name="Content Card"/>
          <p:cNvSpPr/>
          <p:nvPr/>
        </p:nvSpPr>
        <p:spPr>
          <a:xfrm>
            <a:off x="457200" y="914400"/>
            <a:ext cx="11274552" cy="5440680"/>
          </a:xfrm>
          <a:prstGeom prst="roundRect">
            <a:avLst>
              <a:gd name="adj" fmla="val 3000"/>
            </a:avLst>
          </a:prstGeom>
          <a:solidFill>
            <a:srgbClr val="EEF5FA"/>
          </a:solidFill>
          <a:ln w="19050">
            <a:solidFill>
              <a:srgbClr val="9CC3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Wow card 1"/>
          <p:cNvSpPr/>
          <p:nvPr/>
        </p:nvSpPr>
        <p:spPr>
          <a:xfrm>
            <a:off x="731520" y="1188720"/>
            <a:ext cx="3447288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B3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Icon circle"/>
          <p:cNvSpPr/>
          <p:nvPr/>
        </p:nvSpPr>
        <p:spPr>
          <a:xfrm>
            <a:off x="982980" y="1394460"/>
            <a:ext cx="685800" cy="6858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0" name="Icon FaBrain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" y="1559051"/>
            <a:ext cx="356616" cy="356616"/>
          </a:xfrm>
          <a:prstGeom prst="rect">
            <a:avLst/>
          </a:prstGeom>
        </p:spPr>
      </p:pic>
      <p:sp>
        <p:nvSpPr>
          <p:cNvPr id="131" name="Wow title 1"/>
          <p:cNvSpPr txBox="1"/>
          <p:nvPr/>
        </p:nvSpPr>
        <p:spPr>
          <a:xfrm>
            <a:off x="1783080" y="1371600"/>
            <a:ext cx="2286000" cy="7315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700" b="1" i="0">
                <a:solidFill>
                  <a:srgbClr val="0B3C5D"/>
                </a:solidFill>
                <a:latin typeface="Calibri"/>
              </a:rPr>
              <a:t>ML Look-Ahead Cooling</a:t>
            </a:r>
          </a:p>
        </p:txBody>
      </p:sp>
      <p:sp>
        <p:nvSpPr>
          <p:cNvPr id="132" name="Wow desc 1"/>
          <p:cNvSpPr txBox="1"/>
          <p:nvPr/>
        </p:nvSpPr>
        <p:spPr>
          <a:xfrm>
            <a:off x="914400" y="2240280"/>
            <a:ext cx="3081528" cy="11887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0" i="0">
                <a:solidFill>
                  <a:srgbClr val="1F2933"/>
                </a:solidFill>
                <a:latin typeface="Calibri"/>
              </a:rPr>
              <a:t>Forecasts core temperature 10 s ahead and pre-cools before the heat spike.</a:t>
            </a:r>
          </a:p>
        </p:txBody>
      </p:sp>
      <p:sp>
        <p:nvSpPr>
          <p:cNvPr id="133" name="Wow card 2"/>
          <p:cNvSpPr/>
          <p:nvPr/>
        </p:nvSpPr>
        <p:spPr>
          <a:xfrm>
            <a:off x="4370832" y="1188720"/>
            <a:ext cx="3447288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B3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Icon circle"/>
          <p:cNvSpPr/>
          <p:nvPr/>
        </p:nvSpPr>
        <p:spPr>
          <a:xfrm>
            <a:off x="4622292" y="1394460"/>
            <a:ext cx="685800" cy="6858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5" name="Icon FaSyncAlt" descr="FaSyncAlt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86884" y="1559051"/>
            <a:ext cx="356616" cy="356616"/>
          </a:xfrm>
          <a:prstGeom prst="rect">
            <a:avLst/>
          </a:prstGeom>
        </p:spPr>
      </p:pic>
      <p:sp>
        <p:nvSpPr>
          <p:cNvPr id="136" name="Wow title 2"/>
          <p:cNvSpPr txBox="1"/>
          <p:nvPr/>
        </p:nvSpPr>
        <p:spPr>
          <a:xfrm>
            <a:off x="5422392" y="1371600"/>
            <a:ext cx="2286000" cy="7315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700" b="1" i="0">
                <a:solidFill>
                  <a:srgbClr val="0B3C5D"/>
                </a:solidFill>
                <a:latin typeface="Calibri"/>
              </a:rPr>
              <a:t>Live Strategy Switching</a:t>
            </a:r>
          </a:p>
        </p:txBody>
      </p:sp>
      <p:sp>
        <p:nvSpPr>
          <p:cNvPr id="137" name="Wow desc 2"/>
          <p:cNvSpPr txBox="1"/>
          <p:nvPr/>
        </p:nvSpPr>
        <p:spPr>
          <a:xfrm>
            <a:off x="4553712" y="2240280"/>
            <a:ext cx="3081528" cy="11887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0" i="0">
                <a:solidFill>
                  <a:srgbClr val="1F2933"/>
                </a:solidFill>
                <a:latin typeface="Calibri"/>
              </a:rPr>
              <a:t>Switch between four controllers while the simulation keeps running.</a:t>
            </a:r>
          </a:p>
        </p:txBody>
      </p:sp>
      <p:sp>
        <p:nvSpPr>
          <p:cNvPr id="138" name="Wow card 3"/>
          <p:cNvSpPr/>
          <p:nvPr/>
        </p:nvSpPr>
        <p:spPr>
          <a:xfrm>
            <a:off x="8010144" y="1188720"/>
            <a:ext cx="3447288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B3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Icon circle"/>
          <p:cNvSpPr/>
          <p:nvPr/>
        </p:nvSpPr>
        <p:spPr>
          <a:xfrm>
            <a:off x="8261604" y="1394460"/>
            <a:ext cx="685800" cy="6858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0" name="Icon FaChartLine" descr="FaChartLine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26196" y="1559051"/>
            <a:ext cx="356616" cy="356616"/>
          </a:xfrm>
          <a:prstGeom prst="rect">
            <a:avLst/>
          </a:prstGeom>
        </p:spPr>
      </p:pic>
      <p:sp>
        <p:nvSpPr>
          <p:cNvPr id="141" name="Wow title 3"/>
          <p:cNvSpPr txBox="1"/>
          <p:nvPr/>
        </p:nvSpPr>
        <p:spPr>
          <a:xfrm>
            <a:off x="9061704" y="1371600"/>
            <a:ext cx="2286000" cy="7315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700" b="1" i="0">
                <a:solidFill>
                  <a:srgbClr val="0B3C5D"/>
                </a:solidFill>
                <a:latin typeface="Calibri"/>
              </a:rPr>
              <a:t>Real-Time Waveforms</a:t>
            </a:r>
          </a:p>
        </p:txBody>
      </p:sp>
      <p:sp>
        <p:nvSpPr>
          <p:cNvPr id="142" name="Wow desc 3"/>
          <p:cNvSpPr txBox="1"/>
          <p:nvPr/>
        </p:nvSpPr>
        <p:spPr>
          <a:xfrm>
            <a:off x="8193023" y="2240280"/>
            <a:ext cx="3081528" cy="11887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0" i="0">
                <a:solidFill>
                  <a:srgbClr val="1F2933"/>
                </a:solidFill>
                <a:latin typeface="Calibri"/>
              </a:rPr>
              <a:t>90-second strip charts of temperature, coolant flow and load current.</a:t>
            </a:r>
          </a:p>
        </p:txBody>
      </p:sp>
      <p:sp>
        <p:nvSpPr>
          <p:cNvPr id="143" name="Wow card 4"/>
          <p:cNvSpPr/>
          <p:nvPr/>
        </p:nvSpPr>
        <p:spPr>
          <a:xfrm>
            <a:off x="731520" y="3749039"/>
            <a:ext cx="3447288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B3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Icon circle"/>
          <p:cNvSpPr/>
          <p:nvPr/>
        </p:nvSpPr>
        <p:spPr>
          <a:xfrm>
            <a:off x="982980" y="3954779"/>
            <a:ext cx="685800" cy="6858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5" name="Icon FaThermometerHalf" descr="FaThermometerHalf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47572" y="4119371"/>
            <a:ext cx="356616" cy="356616"/>
          </a:xfrm>
          <a:prstGeom prst="rect">
            <a:avLst/>
          </a:prstGeom>
        </p:spPr>
      </p:pic>
      <p:sp>
        <p:nvSpPr>
          <p:cNvPr id="146" name="Wow title 4"/>
          <p:cNvSpPr txBox="1"/>
          <p:nvPr/>
        </p:nvSpPr>
        <p:spPr>
          <a:xfrm>
            <a:off x="1783080" y="3931920"/>
            <a:ext cx="2286000" cy="7315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700" b="1" i="0">
                <a:solidFill>
                  <a:srgbClr val="0B3C5D"/>
                </a:solidFill>
                <a:latin typeface="Calibri"/>
              </a:rPr>
              <a:t>21700 Cell Thermal View</a:t>
            </a:r>
          </a:p>
        </p:txBody>
      </p:sp>
      <p:sp>
        <p:nvSpPr>
          <p:cNvPr id="147" name="Wow desc 4"/>
          <p:cNvSpPr txBox="1"/>
          <p:nvPr/>
        </p:nvSpPr>
        <p:spPr>
          <a:xfrm>
            <a:off x="914400" y="4800600"/>
            <a:ext cx="3081528" cy="11887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0" i="0">
                <a:solidFill>
                  <a:srgbClr val="1F2933"/>
                </a:solidFill>
                <a:latin typeface="Calibri"/>
              </a:rPr>
              <a:t>Core, surface and coolant ring change colour as the cell heats up.</a:t>
            </a:r>
          </a:p>
        </p:txBody>
      </p:sp>
      <p:sp>
        <p:nvSpPr>
          <p:cNvPr id="148" name="Wow card 5"/>
          <p:cNvSpPr/>
          <p:nvPr/>
        </p:nvSpPr>
        <p:spPr>
          <a:xfrm>
            <a:off x="4370832" y="3749039"/>
            <a:ext cx="3447288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B3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Icon circle"/>
          <p:cNvSpPr/>
          <p:nvPr/>
        </p:nvSpPr>
        <p:spPr>
          <a:xfrm>
            <a:off x="4622292" y="3954779"/>
            <a:ext cx="685800" cy="6858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0" name="Icon FaChartBar" descr="FaChartBar_w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86884" y="4119371"/>
            <a:ext cx="356616" cy="356616"/>
          </a:xfrm>
          <a:prstGeom prst="rect">
            <a:avLst/>
          </a:prstGeom>
        </p:spPr>
      </p:pic>
      <p:sp>
        <p:nvSpPr>
          <p:cNvPr id="151" name="Wow title 5"/>
          <p:cNvSpPr txBox="1"/>
          <p:nvPr/>
        </p:nvSpPr>
        <p:spPr>
          <a:xfrm>
            <a:off x="5422392" y="3931920"/>
            <a:ext cx="2286000" cy="7315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700" b="1" i="0">
                <a:solidFill>
                  <a:srgbClr val="0B3C5D"/>
                </a:solidFill>
                <a:latin typeface="Calibri"/>
              </a:rPr>
              <a:t>Live Benchmark Table</a:t>
            </a:r>
          </a:p>
        </p:txBody>
      </p:sp>
      <p:sp>
        <p:nvSpPr>
          <p:cNvPr id="152" name="Wow desc 5"/>
          <p:cNvSpPr txBox="1"/>
          <p:nvPr/>
        </p:nvSpPr>
        <p:spPr>
          <a:xfrm>
            <a:off x="4553712" y="4800600"/>
            <a:ext cx="3081528" cy="11887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0" i="0">
                <a:solidFill>
                  <a:srgbClr val="1F2933"/>
                </a:solidFill>
                <a:latin typeface="Calibri"/>
              </a:rPr>
              <a:t>Peak temperature, time over 35°C, pump energy and wear score.</a:t>
            </a:r>
          </a:p>
        </p:txBody>
      </p:sp>
      <p:sp>
        <p:nvSpPr>
          <p:cNvPr id="153" name="Wow card 6"/>
          <p:cNvSpPr/>
          <p:nvPr/>
        </p:nvSpPr>
        <p:spPr>
          <a:xfrm>
            <a:off x="8010144" y="3749039"/>
            <a:ext cx="3447288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B3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Icon circle"/>
          <p:cNvSpPr/>
          <p:nvPr/>
        </p:nvSpPr>
        <p:spPr>
          <a:xfrm>
            <a:off x="8261604" y="3954779"/>
            <a:ext cx="685800" cy="6858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5" name="Icon FaSlidersH" descr="FaSlidersH_w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26196" y="4119371"/>
            <a:ext cx="356616" cy="356616"/>
          </a:xfrm>
          <a:prstGeom prst="rect">
            <a:avLst/>
          </a:prstGeom>
        </p:spPr>
      </p:pic>
      <p:sp>
        <p:nvSpPr>
          <p:cNvPr id="156" name="Wow title 6"/>
          <p:cNvSpPr txBox="1"/>
          <p:nvPr/>
        </p:nvSpPr>
        <p:spPr>
          <a:xfrm>
            <a:off x="9061704" y="3931920"/>
            <a:ext cx="2286000" cy="7315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700" b="1" i="0">
                <a:solidFill>
                  <a:srgbClr val="0B3C5D"/>
                </a:solidFill>
                <a:latin typeface="Calibri"/>
              </a:rPr>
              <a:t>What-If Controls</a:t>
            </a:r>
          </a:p>
        </p:txBody>
      </p:sp>
      <p:sp>
        <p:nvSpPr>
          <p:cNvPr id="157" name="Wow desc 6"/>
          <p:cNvSpPr txBox="1"/>
          <p:nvPr/>
        </p:nvSpPr>
        <p:spPr>
          <a:xfrm>
            <a:off x="8193023" y="4800600"/>
            <a:ext cx="3081528" cy="11887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0" i="0">
                <a:solidFill>
                  <a:srgbClr val="1F2933"/>
                </a:solidFill>
                <a:latin typeface="Calibri"/>
              </a:rPr>
              <a:t>15 A burst pulse, ambient and coolant sliders, aging cycles, 1x-10x speed.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itle"/>
          <p:cNvSpPr txBox="1"/>
          <p:nvPr/>
        </p:nvSpPr>
        <p:spPr>
          <a:xfrm>
            <a:off x="146304" y="100584"/>
            <a:ext cx="9000000" cy="3936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 lnSpcReduction="10000"/>
          </a:bodyPr>
          <a:lstStyle/>
          <a:p>
            <a:pPr algn="l"/>
            <a:r>
              <a:rPr lang="en-US" sz="2200" b="1" u="sng">
                <a:solidFill>
                  <a:srgbClr val="002060"/>
                </a:solidFill>
                <a:latin typeface="Times New Roman" panose="02020603050405020304"/>
                <a:cs typeface="Times New Roman" panose="02020603050405020304"/>
              </a:rPr>
              <a:t>Modelling/Block Diagram/Flow of Project</a:t>
            </a:r>
          </a:p>
        </p:txBody>
      </p:sp>
      <p:sp>
        <p:nvSpPr>
          <p:cNvPr id="129" name="Content Card"/>
          <p:cNvSpPr/>
          <p:nvPr/>
        </p:nvSpPr>
        <p:spPr>
          <a:xfrm>
            <a:off x="457200" y="914400"/>
            <a:ext cx="11274552" cy="5440680"/>
          </a:xfrm>
          <a:prstGeom prst="roundRect">
            <a:avLst>
              <a:gd name="adj" fmla="val 3000"/>
            </a:avLst>
          </a:prstGeom>
          <a:solidFill>
            <a:srgbClr val="EEF5FA"/>
          </a:solidFill>
          <a:ln w="19050">
            <a:solidFill>
              <a:srgbClr val="9CC3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Input label"/>
          <p:cNvSpPr txBox="1"/>
          <p:nvPr/>
        </p:nvSpPr>
        <p:spPr>
          <a:xfrm>
            <a:off x="731520" y="1097280"/>
            <a:ext cx="246888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600" b="1" i="0">
                <a:solidFill>
                  <a:srgbClr val="0B3C5D"/>
                </a:solidFill>
                <a:latin typeface="Calibri"/>
              </a:rPr>
              <a:t>INPUT</a:t>
            </a:r>
          </a:p>
        </p:txBody>
      </p:sp>
      <p:sp>
        <p:nvSpPr>
          <p:cNvPr id="131" name="Input box 1"/>
          <p:cNvSpPr/>
          <p:nvPr/>
        </p:nvSpPr>
        <p:spPr>
          <a:xfrm>
            <a:off x="731520" y="1508760"/>
            <a:ext cx="246888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B3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Icon circle"/>
          <p:cNvSpPr/>
          <p:nvPr/>
        </p:nvSpPr>
        <p:spPr>
          <a:xfrm>
            <a:off x="1714500" y="1623060"/>
            <a:ext cx="502920" cy="50292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3" name="Icon FaCarBattery" descr="FaCarBattery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5200" y="1743760"/>
            <a:ext cx="261518" cy="261518"/>
          </a:xfrm>
          <a:prstGeom prst="rect">
            <a:avLst/>
          </a:prstGeom>
        </p:spPr>
      </p:pic>
      <p:sp>
        <p:nvSpPr>
          <p:cNvPr id="134" name="Input title 1"/>
          <p:cNvSpPr txBox="1"/>
          <p:nvPr/>
        </p:nvSpPr>
        <p:spPr>
          <a:xfrm>
            <a:off x="822960" y="2167128"/>
            <a:ext cx="22860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600" b="1" i="0">
                <a:solidFill>
                  <a:srgbClr val="0B3C5D"/>
                </a:solidFill>
                <a:latin typeface="Calibri"/>
              </a:rPr>
              <a:t>Drive Profile</a:t>
            </a:r>
          </a:p>
        </p:txBody>
      </p:sp>
      <p:sp>
        <p:nvSpPr>
          <p:cNvPr id="135" name="Input desc 1"/>
          <p:cNvSpPr txBox="1"/>
          <p:nvPr/>
        </p:nvSpPr>
        <p:spPr>
          <a:xfrm>
            <a:off x="868680" y="2496312"/>
            <a:ext cx="2194560" cy="7772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400" b="0" i="0">
                <a:solidFill>
                  <a:srgbClr val="1F2933"/>
                </a:solidFill>
                <a:latin typeface="Calibri"/>
              </a:rPr>
              <a:t>Load current I(t): city/highway, NASA B0005, fast charge, hill climb</a:t>
            </a:r>
          </a:p>
        </p:txBody>
      </p:sp>
      <p:sp>
        <p:nvSpPr>
          <p:cNvPr id="136" name="Input box 2"/>
          <p:cNvSpPr/>
          <p:nvPr/>
        </p:nvSpPr>
        <p:spPr>
          <a:xfrm>
            <a:off x="731520" y="3474720"/>
            <a:ext cx="246888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B3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Icon circle"/>
          <p:cNvSpPr/>
          <p:nvPr/>
        </p:nvSpPr>
        <p:spPr>
          <a:xfrm>
            <a:off x="1714500" y="3589020"/>
            <a:ext cx="502920" cy="50292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8" name="Icon FaSlidersH" descr="FaSlidersH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35200" y="3709720"/>
            <a:ext cx="261518" cy="261518"/>
          </a:xfrm>
          <a:prstGeom prst="rect">
            <a:avLst/>
          </a:prstGeom>
        </p:spPr>
      </p:pic>
      <p:sp>
        <p:nvSpPr>
          <p:cNvPr id="139" name="Input title 2"/>
          <p:cNvSpPr txBox="1"/>
          <p:nvPr/>
        </p:nvSpPr>
        <p:spPr>
          <a:xfrm>
            <a:off x="822960" y="4133087"/>
            <a:ext cx="22860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600" b="1" i="0">
                <a:solidFill>
                  <a:srgbClr val="0B3C5D"/>
                </a:solidFill>
                <a:latin typeface="Calibri"/>
              </a:rPr>
              <a:t>Environment &amp; Aging</a:t>
            </a:r>
          </a:p>
        </p:txBody>
      </p:sp>
      <p:sp>
        <p:nvSpPr>
          <p:cNvPr id="140" name="Input desc 2"/>
          <p:cNvSpPr txBox="1"/>
          <p:nvPr/>
        </p:nvSpPr>
        <p:spPr>
          <a:xfrm>
            <a:off x="868680" y="4462272"/>
            <a:ext cx="2194560" cy="7772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400" b="0" i="0">
                <a:solidFill>
                  <a:srgbClr val="1F2933"/>
                </a:solidFill>
                <a:latin typeface="Calibri"/>
              </a:rPr>
              <a:t>Ambient and coolant temperature sliders, battery cycle index</a:t>
            </a:r>
          </a:p>
        </p:txBody>
      </p:sp>
      <p:sp>
        <p:nvSpPr>
          <p:cNvPr id="141" name="Flow arrow"/>
          <p:cNvSpPr/>
          <p:nvPr/>
        </p:nvSpPr>
        <p:spPr>
          <a:xfrm>
            <a:off x="3273552" y="3108960"/>
            <a:ext cx="365760" cy="365760"/>
          </a:xfrm>
          <a:prstGeom prst="rightArrow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Engine panel"/>
          <p:cNvSpPr/>
          <p:nvPr/>
        </p:nvSpPr>
        <p:spPr>
          <a:xfrm>
            <a:off x="3657600" y="1143000"/>
            <a:ext cx="4937760" cy="4206240"/>
          </a:xfrm>
          <a:prstGeom prst="roundRect">
            <a:avLst>
              <a:gd name="adj" fmla="val 4000"/>
            </a:avLst>
          </a:prstGeom>
          <a:solidFill>
            <a:srgbClr val="DCEAF3"/>
          </a:solidFill>
          <a:ln w="19050">
            <a:solidFill>
              <a:srgbClr val="0B3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Engine label"/>
          <p:cNvSpPr txBox="1"/>
          <p:nvPr/>
        </p:nvSpPr>
        <p:spPr>
          <a:xfrm>
            <a:off x="3657600" y="1188720"/>
            <a:ext cx="493776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600" b="1" i="0">
                <a:solidFill>
                  <a:srgbClr val="0B3C5D"/>
                </a:solidFill>
                <a:latin typeface="Calibri"/>
              </a:rPr>
              <a:t>Simulation &amp; Control Engine (1 s step)</a:t>
            </a:r>
          </a:p>
        </p:txBody>
      </p:sp>
      <p:sp>
        <p:nvSpPr>
          <p:cNvPr id="144" name="Engine box 1"/>
          <p:cNvSpPr/>
          <p:nvPr/>
        </p:nvSpPr>
        <p:spPr>
          <a:xfrm>
            <a:off x="3794760" y="1645920"/>
            <a:ext cx="2194560" cy="1691640"/>
          </a:xfrm>
          <a:prstGeom prst="roundRect">
            <a:avLst>
              <a:gd name="adj" fmla="val 10000"/>
            </a:avLst>
          </a:prstGeom>
          <a:solidFill>
            <a:srgbClr val="0B3C5D"/>
          </a:solidFill>
          <a:ln w="15875">
            <a:solidFill>
              <a:srgbClr val="062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/>
          <a:lstStyle/>
          <a:p>
            <a:pPr algn="ctr">
              <a:spcAft>
                <a:spcPts val="5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Heat Generation</a:t>
            </a:r>
          </a:p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Bernardi: I²R + entropic heat; Arrhenius R_int and aging</a:t>
            </a:r>
          </a:p>
        </p:txBody>
      </p:sp>
      <p:sp>
        <p:nvSpPr>
          <p:cNvPr id="145" name="Engine box 2"/>
          <p:cNvSpPr/>
          <p:nvPr/>
        </p:nvSpPr>
        <p:spPr>
          <a:xfrm>
            <a:off x="6172200" y="1645920"/>
            <a:ext cx="2194560" cy="1691640"/>
          </a:xfrm>
          <a:prstGeom prst="roundRect">
            <a:avLst>
              <a:gd name="adj" fmla="val 10000"/>
            </a:avLst>
          </a:prstGeom>
          <a:solidFill>
            <a:srgbClr val="0B3C5D"/>
          </a:solidFill>
          <a:ln w="15875">
            <a:solidFill>
              <a:srgbClr val="062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/>
          <a:lstStyle/>
          <a:p>
            <a:pPr algn="ctr">
              <a:spcAft>
                <a:spcPts val="5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Thermal Model</a:t>
            </a:r>
          </a:p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Core / surface equations, C = 38 / 8 J/K</a:t>
            </a:r>
          </a:p>
        </p:txBody>
      </p:sp>
      <p:sp>
        <p:nvSpPr>
          <p:cNvPr id="146" name="Engine box 3"/>
          <p:cNvSpPr/>
          <p:nvPr/>
        </p:nvSpPr>
        <p:spPr>
          <a:xfrm>
            <a:off x="3794760" y="3474720"/>
            <a:ext cx="2194560" cy="1691640"/>
          </a:xfrm>
          <a:prstGeom prst="roundRect">
            <a:avLst>
              <a:gd name="adj" fmla="val 10000"/>
            </a:avLst>
          </a:prstGeom>
          <a:solidFill>
            <a:srgbClr val="0B3C5D"/>
          </a:solidFill>
          <a:ln w="15875">
            <a:solidFill>
              <a:srgbClr val="062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/>
          <a:lstStyle/>
          <a:p>
            <a:pPr algn="ctr">
              <a:spcAft>
                <a:spcPts val="5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ML Forecast</a:t>
            </a:r>
          </a:p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Predicts core temperature 10 s ahead</a:t>
            </a:r>
          </a:p>
        </p:txBody>
      </p:sp>
      <p:sp>
        <p:nvSpPr>
          <p:cNvPr id="147" name="Engine box 4"/>
          <p:cNvSpPr/>
          <p:nvPr/>
        </p:nvSpPr>
        <p:spPr>
          <a:xfrm>
            <a:off x="6172200" y="3474720"/>
            <a:ext cx="2194560" cy="1691640"/>
          </a:xfrm>
          <a:prstGeom prst="roundRect">
            <a:avLst>
              <a:gd name="adj" fmla="val 10000"/>
            </a:avLst>
          </a:prstGeom>
          <a:solidFill>
            <a:srgbClr val="0B3C5D"/>
          </a:solidFill>
          <a:ln w="15875">
            <a:solidFill>
              <a:srgbClr val="062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/>
          <a:lstStyle/>
          <a:p>
            <a:pPr algn="ctr">
              <a:spcAft>
                <a:spcPts val="5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Cooling Controller</a:t>
            </a:r>
          </a:p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Passive, Bang-Bang, PID or Look-Ahead sets flow u</a:t>
            </a:r>
          </a:p>
        </p:txBody>
      </p:sp>
      <p:sp>
        <p:nvSpPr>
          <p:cNvPr id="148" name="Flow arrow"/>
          <p:cNvSpPr/>
          <p:nvPr/>
        </p:nvSpPr>
        <p:spPr>
          <a:xfrm>
            <a:off x="8668512" y="3108960"/>
            <a:ext cx="365760" cy="365760"/>
          </a:xfrm>
          <a:prstGeom prst="rightArrow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utput label"/>
          <p:cNvSpPr txBox="1"/>
          <p:nvPr/>
        </p:nvSpPr>
        <p:spPr>
          <a:xfrm>
            <a:off x="9098280" y="1097280"/>
            <a:ext cx="237744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600" b="1" i="0">
                <a:solidFill>
                  <a:srgbClr val="0B3C5D"/>
                </a:solidFill>
                <a:latin typeface="Calibri"/>
              </a:rPr>
              <a:t>OUTPUT</a:t>
            </a:r>
          </a:p>
        </p:txBody>
      </p:sp>
      <p:sp>
        <p:nvSpPr>
          <p:cNvPr id="150" name="Output box 1"/>
          <p:cNvSpPr/>
          <p:nvPr/>
        </p:nvSpPr>
        <p:spPr>
          <a:xfrm>
            <a:off x="9098280" y="1508760"/>
            <a:ext cx="237744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B3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27432" rIns="73152" bIns="27432"/>
          <a:lstStyle/>
          <a:p>
            <a:pPr algn="ctr"/>
            <a:r>
              <a:rPr sz="1600" b="1" i="0">
                <a:solidFill>
                  <a:srgbClr val="0B3C5D"/>
                </a:solidFill>
                <a:latin typeface="Calibri"/>
              </a:rPr>
              <a:t>Live Waveforms</a:t>
            </a:r>
          </a:p>
          <a:p>
            <a:pPr algn="ctr"/>
            <a:r>
              <a:rPr sz="1400" b="0" i="0">
                <a:solidFill>
                  <a:srgbClr val="1F2933"/>
                </a:solidFill>
                <a:latin typeface="Calibri"/>
              </a:rPr>
              <a:t>Temperature, flow, current</a:t>
            </a:r>
          </a:p>
        </p:txBody>
      </p:sp>
      <p:sp>
        <p:nvSpPr>
          <p:cNvPr id="151" name="Output box 2"/>
          <p:cNvSpPr/>
          <p:nvPr/>
        </p:nvSpPr>
        <p:spPr>
          <a:xfrm>
            <a:off x="9098280" y="2496312"/>
            <a:ext cx="237744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B3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27432" rIns="73152" bIns="27432"/>
          <a:lstStyle/>
          <a:p>
            <a:pPr algn="ctr"/>
            <a:r>
              <a:rPr sz="1600" b="1" i="0">
                <a:solidFill>
                  <a:srgbClr val="0B3C5D"/>
                </a:solidFill>
                <a:latin typeface="Calibri"/>
              </a:rPr>
              <a:t>Cell Thermal View</a:t>
            </a:r>
          </a:p>
          <a:p>
            <a:pPr algn="ctr"/>
            <a:r>
              <a:rPr sz="1400" b="0" i="0">
                <a:solidFill>
                  <a:srgbClr val="1F2933"/>
                </a:solidFill>
                <a:latin typeface="Calibri"/>
              </a:rPr>
              <a:t>21700 core and surface</a:t>
            </a:r>
          </a:p>
        </p:txBody>
      </p:sp>
      <p:sp>
        <p:nvSpPr>
          <p:cNvPr id="152" name="Output box 3"/>
          <p:cNvSpPr/>
          <p:nvPr/>
        </p:nvSpPr>
        <p:spPr>
          <a:xfrm>
            <a:off x="9098280" y="3483864"/>
            <a:ext cx="237744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B3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27432" rIns="73152" bIns="27432"/>
          <a:lstStyle/>
          <a:p>
            <a:pPr algn="ctr"/>
            <a:r>
              <a:rPr sz="1600" b="1" i="0">
                <a:solidFill>
                  <a:srgbClr val="0B3C5D"/>
                </a:solidFill>
                <a:latin typeface="Calibri"/>
              </a:rPr>
              <a:t>Metrics Strip</a:t>
            </a:r>
          </a:p>
          <a:p>
            <a:pPr algn="ctr"/>
            <a:r>
              <a:rPr sz="1400" b="0" i="0">
                <a:solidFill>
                  <a:srgbClr val="1F2933"/>
                </a:solidFill>
                <a:latin typeface="Calibri"/>
              </a:rPr>
              <a:t>Six live readouts</a:t>
            </a:r>
          </a:p>
        </p:txBody>
      </p:sp>
      <p:sp>
        <p:nvSpPr>
          <p:cNvPr id="153" name="Output box 4"/>
          <p:cNvSpPr/>
          <p:nvPr/>
        </p:nvSpPr>
        <p:spPr>
          <a:xfrm>
            <a:off x="9098280" y="4471416"/>
            <a:ext cx="237744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B3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27432" rIns="73152" bIns="27432"/>
          <a:lstStyle/>
          <a:p>
            <a:pPr algn="ctr"/>
            <a:r>
              <a:rPr sz="1600" b="1" i="0">
                <a:solidFill>
                  <a:srgbClr val="0B3C5D"/>
                </a:solidFill>
                <a:latin typeface="Calibri"/>
              </a:rPr>
              <a:t>Benchmark Table</a:t>
            </a:r>
          </a:p>
          <a:p>
            <a:pPr algn="ctr"/>
            <a:r>
              <a:rPr sz="1400" b="0" i="0">
                <a:solidFill>
                  <a:srgbClr val="1F2933"/>
                </a:solidFill>
                <a:latin typeface="Calibri"/>
              </a:rPr>
              <a:t>All four strategies</a:t>
            </a:r>
          </a:p>
        </p:txBody>
      </p:sp>
      <p:sp>
        <p:nvSpPr>
          <p:cNvPr id="154" name="Delivery strip"/>
          <p:cNvSpPr/>
          <p:nvPr/>
        </p:nvSpPr>
        <p:spPr>
          <a:xfrm>
            <a:off x="731520" y="5532120"/>
            <a:ext cx="10725912" cy="5943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0B3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 rIns="137160" bIns="91440"/>
          <a:lstStyle/>
          <a:p>
            <a:pPr algn="ctr"/>
            <a:r>
              <a:rPr sz="1600" b="1" i="0">
                <a:solidFill>
                  <a:srgbClr val="0B3C5D"/>
                </a:solidFill>
                <a:latin typeface="Calibri"/>
              </a:rPr>
              <a:t>Delivery: </a:t>
            </a:r>
            <a:r>
              <a:rPr sz="1600" b="0" i="0">
                <a:solidFill>
                  <a:srgbClr val="1F2933"/>
                </a:solidFill>
                <a:latin typeface="Calibri"/>
              </a:rPr>
              <a:t>single responsive web dashboard (HTML, Tailwind CSS, Canvas and SVG) that runs in any browser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Title"/>
          <p:cNvSpPr txBox="1"/>
          <p:nvPr/>
        </p:nvSpPr>
        <p:spPr>
          <a:xfrm>
            <a:off x="146304" y="100584"/>
            <a:ext cx="9000000" cy="3936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 lnSpcReduction="10000"/>
          </a:bodyPr>
          <a:lstStyle/>
          <a:p>
            <a:pPr algn="l"/>
            <a:r>
              <a:rPr lang="en-US" sz="2200" b="1" u="sng">
                <a:solidFill>
                  <a:srgbClr val="002060"/>
                </a:solidFill>
                <a:latin typeface="Times New Roman" panose="02020603050405020304"/>
                <a:cs typeface="Times New Roman" panose="02020603050405020304"/>
              </a:rPr>
              <a:t>Technology Stack</a:t>
            </a:r>
          </a:p>
        </p:txBody>
      </p:sp>
      <p:sp>
        <p:nvSpPr>
          <p:cNvPr id="131" name="Content Card"/>
          <p:cNvSpPr/>
          <p:nvPr/>
        </p:nvSpPr>
        <p:spPr>
          <a:xfrm>
            <a:off x="457200" y="914400"/>
            <a:ext cx="11274552" cy="5440680"/>
          </a:xfrm>
          <a:prstGeom prst="roundRect">
            <a:avLst>
              <a:gd name="adj" fmla="val 3000"/>
            </a:avLst>
          </a:prstGeom>
          <a:solidFill>
            <a:srgbClr val="EEF5FA"/>
          </a:solidFill>
          <a:ln w="19050">
            <a:solidFill>
              <a:srgbClr val="9CC3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Stack card 1"/>
          <p:cNvSpPr/>
          <p:nvPr/>
        </p:nvSpPr>
        <p:spPr>
          <a:xfrm>
            <a:off x="731520" y="1188720"/>
            <a:ext cx="344728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0B3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Stack header 1"/>
          <p:cNvSpPr/>
          <p:nvPr/>
        </p:nvSpPr>
        <p:spPr>
          <a:xfrm>
            <a:off x="731520" y="1188720"/>
            <a:ext cx="3447288" cy="594360"/>
          </a:xfrm>
          <a:prstGeom prst="roundRect">
            <a:avLst>
              <a:gd name="adj" fmla="val 30000"/>
            </a:avLst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4" name="Icon FaFlask" descr="FaFlask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1316736"/>
            <a:ext cx="347472" cy="347472"/>
          </a:xfrm>
          <a:prstGeom prst="rect">
            <a:avLst/>
          </a:prstGeom>
        </p:spPr>
      </p:pic>
      <p:sp>
        <p:nvSpPr>
          <p:cNvPr id="135" name="Stack title 1"/>
          <p:cNvSpPr txBox="1"/>
          <p:nvPr/>
        </p:nvSpPr>
        <p:spPr>
          <a:xfrm>
            <a:off x="1371600" y="1234440"/>
            <a:ext cx="2624328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Physics Model</a:t>
            </a:r>
          </a:p>
        </p:txBody>
      </p:sp>
      <p:sp>
        <p:nvSpPr>
          <p:cNvPr id="136" name="Stack bullets 1"/>
          <p:cNvSpPr txBox="1"/>
          <p:nvPr/>
        </p:nvSpPr>
        <p:spPr>
          <a:xfrm>
            <a:off x="868680" y="1920240"/>
            <a:ext cx="3172968" cy="1554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 marL="228600" indent="-228600">
              <a:spcAft>
                <a:spcPts val="800"/>
              </a:spcAft>
              <a:buFont typeface="Arial"/>
              <a:buChar char="•"/>
            </a:pPr>
            <a:r>
              <a:rPr sz="1600" b="0" i="0">
                <a:solidFill>
                  <a:srgbClr val="1F2933"/>
                </a:solidFill>
                <a:latin typeface="Calibri"/>
              </a:rPr>
              <a:t>Lumped 2-state thermal equations</a:t>
            </a:r>
          </a:p>
          <a:p>
            <a:pPr algn="l" marL="228600" indent="-228600">
              <a:spcAft>
                <a:spcPts val="800"/>
              </a:spcAft>
              <a:buFont typeface="Arial"/>
              <a:buChar char="•"/>
            </a:pPr>
            <a:r>
              <a:rPr sz="1600" b="0" i="0">
                <a:solidFill>
                  <a:srgbClr val="1F2933"/>
                </a:solidFill>
                <a:latin typeface="Calibri"/>
              </a:rPr>
              <a:t>Bernardi heat generation</a:t>
            </a:r>
          </a:p>
          <a:p>
            <a:pPr algn="l" marL="228600" indent="-228600">
              <a:spcAft>
                <a:spcPts val="800"/>
              </a:spcAft>
              <a:buFont typeface="Arial"/>
              <a:buChar char="•"/>
            </a:pPr>
            <a:r>
              <a:rPr sz="1600" b="0" i="0">
                <a:solidFill>
                  <a:srgbClr val="1F2933"/>
                </a:solidFill>
                <a:latin typeface="Calibri"/>
              </a:rPr>
              <a:t>Arrhenius R_int + aging factor</a:t>
            </a:r>
          </a:p>
          <a:p>
            <a:pPr algn="l" marL="228600" indent="-228600">
              <a:spcAft>
                <a:spcPts val="800"/>
              </a:spcAft>
              <a:buFont typeface="Arial"/>
              <a:buChar char="•"/>
            </a:pPr>
            <a:r>
              <a:rPr sz="1600" b="0" i="0">
                <a:solidFill>
                  <a:srgbClr val="1F2933"/>
                </a:solidFill>
                <a:latin typeface="Calibri"/>
              </a:rPr>
              <a:t>Euler step, dt = 1 s</a:t>
            </a:r>
          </a:p>
        </p:txBody>
      </p:sp>
      <p:sp>
        <p:nvSpPr>
          <p:cNvPr id="137" name="Stack card 2"/>
          <p:cNvSpPr/>
          <p:nvPr/>
        </p:nvSpPr>
        <p:spPr>
          <a:xfrm>
            <a:off x="4370832" y="1188720"/>
            <a:ext cx="344728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0B3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Stack header 2"/>
          <p:cNvSpPr/>
          <p:nvPr/>
        </p:nvSpPr>
        <p:spPr>
          <a:xfrm>
            <a:off x="4370832" y="1188720"/>
            <a:ext cx="3447288" cy="594360"/>
          </a:xfrm>
          <a:prstGeom prst="roundRect">
            <a:avLst>
              <a:gd name="adj" fmla="val 30000"/>
            </a:avLst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9" name="Icon FaBrain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3712" y="1316736"/>
            <a:ext cx="347472" cy="347472"/>
          </a:xfrm>
          <a:prstGeom prst="rect">
            <a:avLst/>
          </a:prstGeom>
        </p:spPr>
      </p:pic>
      <p:sp>
        <p:nvSpPr>
          <p:cNvPr id="140" name="Stack title 2"/>
          <p:cNvSpPr txBox="1"/>
          <p:nvPr/>
        </p:nvSpPr>
        <p:spPr>
          <a:xfrm>
            <a:off x="5010912" y="1234440"/>
            <a:ext cx="2624328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Control &amp; ML</a:t>
            </a:r>
          </a:p>
        </p:txBody>
      </p:sp>
      <p:sp>
        <p:nvSpPr>
          <p:cNvPr id="141" name="Stack bullets 2"/>
          <p:cNvSpPr txBox="1"/>
          <p:nvPr/>
        </p:nvSpPr>
        <p:spPr>
          <a:xfrm>
            <a:off x="4507992" y="1920240"/>
            <a:ext cx="3172968" cy="1554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 marL="228600" indent="-228600">
              <a:spcAft>
                <a:spcPts val="800"/>
              </a:spcAft>
              <a:buFont typeface="Arial"/>
              <a:buChar char="•"/>
            </a:pPr>
            <a:r>
              <a:rPr sz="1600" b="0" i="0">
                <a:solidFill>
                  <a:srgbClr val="1F2933"/>
                </a:solidFill>
                <a:latin typeface="Calibri"/>
              </a:rPr>
              <a:t>Bang-Bang: on 34°C, off 29.5°C</a:t>
            </a:r>
          </a:p>
          <a:p>
            <a:pPr algn="l" marL="228600" indent="-228600">
              <a:spcAft>
                <a:spcPts val="800"/>
              </a:spcAft>
              <a:buFont typeface="Arial"/>
              <a:buChar char="•"/>
            </a:pPr>
            <a:r>
              <a:rPr sz="1600" b="0" i="0">
                <a:solidFill>
                  <a:srgbClr val="1F2933"/>
                </a:solidFill>
                <a:latin typeface="Calibri"/>
              </a:rPr>
              <a:t>PID with a 30°C target</a:t>
            </a:r>
          </a:p>
          <a:p>
            <a:pPr algn="l" marL="228600" indent="-228600">
              <a:spcAft>
                <a:spcPts val="800"/>
              </a:spcAft>
              <a:buFont typeface="Arial"/>
              <a:buChar char="•"/>
            </a:pPr>
            <a:r>
              <a:rPr sz="1600" b="0" i="0">
                <a:solidFill>
                  <a:srgbClr val="1F2933"/>
                </a:solidFill>
                <a:latin typeface="Calibri"/>
              </a:rPr>
              <a:t>ML look-ahead forecast, t + 10 s</a:t>
            </a:r>
          </a:p>
          <a:p>
            <a:pPr algn="l" marL="228600" indent="-228600">
              <a:spcAft>
                <a:spcPts val="800"/>
              </a:spcAft>
              <a:buFont typeface="Arial"/>
              <a:buChar char="•"/>
            </a:pPr>
            <a:r>
              <a:rPr sz="1600" b="0" i="0">
                <a:solidFill>
                  <a:srgbClr val="1F2933"/>
                </a:solidFill>
                <a:latin typeface="Calibri"/>
              </a:rPr>
              <a:t>Slew-limited flow command</a:t>
            </a:r>
          </a:p>
        </p:txBody>
      </p:sp>
      <p:sp>
        <p:nvSpPr>
          <p:cNvPr id="142" name="Stack card 3"/>
          <p:cNvSpPr/>
          <p:nvPr/>
        </p:nvSpPr>
        <p:spPr>
          <a:xfrm>
            <a:off x="8010144" y="1188720"/>
            <a:ext cx="344728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0B3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Stack header 3"/>
          <p:cNvSpPr/>
          <p:nvPr/>
        </p:nvSpPr>
        <p:spPr>
          <a:xfrm>
            <a:off x="8010144" y="1188720"/>
            <a:ext cx="3447288" cy="594360"/>
          </a:xfrm>
          <a:prstGeom prst="roundRect">
            <a:avLst>
              <a:gd name="adj" fmla="val 30000"/>
            </a:avLst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4" name="Icon FaCode" descr="FaCode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93023" y="1316736"/>
            <a:ext cx="347472" cy="347472"/>
          </a:xfrm>
          <a:prstGeom prst="rect">
            <a:avLst/>
          </a:prstGeom>
        </p:spPr>
      </p:pic>
      <p:sp>
        <p:nvSpPr>
          <p:cNvPr id="145" name="Stack title 3"/>
          <p:cNvSpPr txBox="1"/>
          <p:nvPr/>
        </p:nvSpPr>
        <p:spPr>
          <a:xfrm>
            <a:off x="8650224" y="1234440"/>
            <a:ext cx="2624328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Frontend</a:t>
            </a:r>
          </a:p>
        </p:txBody>
      </p:sp>
      <p:sp>
        <p:nvSpPr>
          <p:cNvPr id="146" name="Stack bullets 3"/>
          <p:cNvSpPr txBox="1"/>
          <p:nvPr/>
        </p:nvSpPr>
        <p:spPr>
          <a:xfrm>
            <a:off x="8147304" y="1920240"/>
            <a:ext cx="3172968" cy="1554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 marL="228600" indent="-228600">
              <a:spcAft>
                <a:spcPts val="800"/>
              </a:spcAft>
              <a:buFont typeface="Arial"/>
              <a:buChar char="•"/>
            </a:pPr>
            <a:r>
              <a:rPr sz="1600" b="0" i="0">
                <a:solidFill>
                  <a:srgbClr val="1F2933"/>
                </a:solidFill>
                <a:latin typeface="Calibri"/>
              </a:rPr>
              <a:t>HTML5 and JavaScript</a:t>
            </a:r>
          </a:p>
          <a:p>
            <a:pPr algn="l" marL="228600" indent="-228600">
              <a:spcAft>
                <a:spcPts val="800"/>
              </a:spcAft>
              <a:buFont typeface="Arial"/>
              <a:buChar char="•"/>
            </a:pPr>
            <a:r>
              <a:rPr sz="1600" b="0" i="0">
                <a:solidFill>
                  <a:srgbClr val="1F2933"/>
                </a:solidFill>
                <a:latin typeface="Calibri"/>
              </a:rPr>
              <a:t>Tailwind CSS responsive layout</a:t>
            </a:r>
          </a:p>
          <a:p>
            <a:pPr algn="l" marL="228600" indent="-228600">
              <a:spcAft>
                <a:spcPts val="800"/>
              </a:spcAft>
              <a:buFont typeface="Arial"/>
              <a:buChar char="•"/>
            </a:pPr>
            <a:r>
              <a:rPr sz="1600" b="0" i="0">
                <a:solidFill>
                  <a:srgbClr val="1F2933"/>
                </a:solidFill>
                <a:latin typeface="Calibri"/>
              </a:rPr>
              <a:t>Selectors, sliders, burst button</a:t>
            </a:r>
          </a:p>
          <a:p>
            <a:pPr algn="l" marL="228600" indent="-228600">
              <a:spcAft>
                <a:spcPts val="800"/>
              </a:spcAft>
              <a:buFont typeface="Arial"/>
              <a:buChar char="•"/>
            </a:pPr>
            <a:r>
              <a:rPr sz="1600" b="0" i="0">
                <a:solidFill>
                  <a:srgbClr val="1F2933"/>
                </a:solidFill>
                <a:latin typeface="Calibri"/>
              </a:rPr>
              <a:t>Dark dashboard theme</a:t>
            </a:r>
          </a:p>
        </p:txBody>
      </p:sp>
      <p:sp>
        <p:nvSpPr>
          <p:cNvPr id="147" name="Stack card 4"/>
          <p:cNvSpPr/>
          <p:nvPr/>
        </p:nvSpPr>
        <p:spPr>
          <a:xfrm>
            <a:off x="731520" y="3703320"/>
            <a:ext cx="5266944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0B3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Stack header 4"/>
          <p:cNvSpPr/>
          <p:nvPr/>
        </p:nvSpPr>
        <p:spPr>
          <a:xfrm>
            <a:off x="731520" y="3703320"/>
            <a:ext cx="5266944" cy="594360"/>
          </a:xfrm>
          <a:prstGeom prst="roundRect">
            <a:avLst>
              <a:gd name="adj" fmla="val 30000"/>
            </a:avLst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9" name="Icon FaChartLine" descr="FaChartLine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4400" y="3831335"/>
            <a:ext cx="347472" cy="347472"/>
          </a:xfrm>
          <a:prstGeom prst="rect">
            <a:avLst/>
          </a:prstGeom>
        </p:spPr>
      </p:pic>
      <p:sp>
        <p:nvSpPr>
          <p:cNvPr id="150" name="Stack title 4"/>
          <p:cNvSpPr txBox="1"/>
          <p:nvPr/>
        </p:nvSpPr>
        <p:spPr>
          <a:xfrm>
            <a:off x="1371600" y="3749039"/>
            <a:ext cx="4443983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Visualization</a:t>
            </a:r>
          </a:p>
        </p:txBody>
      </p:sp>
      <p:sp>
        <p:nvSpPr>
          <p:cNvPr id="151" name="Stack bullets 4"/>
          <p:cNvSpPr txBox="1"/>
          <p:nvPr/>
        </p:nvSpPr>
        <p:spPr>
          <a:xfrm>
            <a:off x="868680" y="4434840"/>
            <a:ext cx="4992624" cy="1554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 marL="228600" indent="-228600">
              <a:spcAft>
                <a:spcPts val="800"/>
              </a:spcAft>
              <a:buFont typeface="Arial"/>
              <a:buChar char="•"/>
            </a:pPr>
            <a:r>
              <a:rPr sz="1600" b="0" i="0">
                <a:solidFill>
                  <a:srgbClr val="1F2933"/>
                </a:solidFill>
                <a:latin typeface="Calibri"/>
              </a:rPr>
              <a:t>HTML5 Canvas strip charts (90 s window)</a:t>
            </a:r>
          </a:p>
          <a:p>
            <a:pPr algn="l" marL="228600" indent="-228600">
              <a:spcAft>
                <a:spcPts val="800"/>
              </a:spcAft>
              <a:buFont typeface="Arial"/>
              <a:buChar char="•"/>
            </a:pPr>
            <a:r>
              <a:rPr sz="1600" b="0" i="0">
                <a:solidFill>
                  <a:srgbClr val="1F2933"/>
                </a:solidFill>
                <a:latin typeface="Calibri"/>
              </a:rPr>
              <a:t>Inline SVG 21700 cell cross-section</a:t>
            </a:r>
          </a:p>
          <a:p>
            <a:pPr algn="l" marL="228600" indent="-228600">
              <a:spcAft>
                <a:spcPts val="800"/>
              </a:spcAft>
              <a:buFont typeface="Arial"/>
              <a:buChar char="•"/>
            </a:pPr>
            <a:r>
              <a:rPr sz="1600" b="0" i="0">
                <a:solidFill>
                  <a:srgbClr val="1F2933"/>
                </a:solidFill>
                <a:latin typeface="Calibri"/>
              </a:rPr>
              <a:t>Live status badges and metric tiles</a:t>
            </a:r>
          </a:p>
        </p:txBody>
      </p:sp>
      <p:sp>
        <p:nvSpPr>
          <p:cNvPr id="152" name="Stack card 5"/>
          <p:cNvSpPr/>
          <p:nvPr/>
        </p:nvSpPr>
        <p:spPr>
          <a:xfrm>
            <a:off x="6190488" y="3703320"/>
            <a:ext cx="5266944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0B3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Stack header 5"/>
          <p:cNvSpPr/>
          <p:nvPr/>
        </p:nvSpPr>
        <p:spPr>
          <a:xfrm>
            <a:off x="6190488" y="3703320"/>
            <a:ext cx="5266944" cy="594360"/>
          </a:xfrm>
          <a:prstGeom prst="roundRect">
            <a:avLst>
              <a:gd name="adj" fmla="val 30000"/>
            </a:avLst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4" name="Icon FaBolt" descr="FaBolt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73368" y="3831335"/>
            <a:ext cx="347472" cy="347472"/>
          </a:xfrm>
          <a:prstGeom prst="rect">
            <a:avLst/>
          </a:prstGeom>
        </p:spPr>
      </p:pic>
      <p:sp>
        <p:nvSpPr>
          <p:cNvPr id="155" name="Stack title 5"/>
          <p:cNvSpPr txBox="1"/>
          <p:nvPr/>
        </p:nvSpPr>
        <p:spPr>
          <a:xfrm>
            <a:off x="6830568" y="3749039"/>
            <a:ext cx="4443983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Actuator &amp; Energy</a:t>
            </a:r>
          </a:p>
        </p:txBody>
      </p:sp>
      <p:sp>
        <p:nvSpPr>
          <p:cNvPr id="156" name="Stack bullets 5"/>
          <p:cNvSpPr txBox="1"/>
          <p:nvPr/>
        </p:nvSpPr>
        <p:spPr>
          <a:xfrm>
            <a:off x="6327648" y="4434840"/>
            <a:ext cx="4992624" cy="1554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 marL="228600" indent="-228600">
              <a:spcAft>
                <a:spcPts val="800"/>
              </a:spcAft>
              <a:buFont typeface="Arial"/>
              <a:buChar char="•"/>
            </a:pPr>
            <a:r>
              <a:rPr sz="1600" b="0" i="0">
                <a:solidFill>
                  <a:srgbClr val="1F2933"/>
                </a:solidFill>
                <a:latin typeface="Calibri"/>
              </a:rPr>
              <a:t>Pump power P = 45 W × u³</a:t>
            </a:r>
          </a:p>
          <a:p>
            <a:pPr algn="l" marL="228600" indent="-228600">
              <a:spcAft>
                <a:spcPts val="800"/>
              </a:spcAft>
              <a:buFont typeface="Arial"/>
              <a:buChar char="•"/>
            </a:pPr>
            <a:r>
              <a:rPr sz="1600" b="0" i="0">
                <a:solidFill>
                  <a:srgbClr val="1F2933"/>
                </a:solidFill>
                <a:latin typeface="Calibri"/>
              </a:rPr>
              <a:t>Maximum cooling transfer 2.5 W/K</a:t>
            </a:r>
          </a:p>
          <a:p>
            <a:pPr algn="l" marL="228600" indent="-228600">
              <a:spcAft>
                <a:spcPts val="800"/>
              </a:spcAft>
              <a:buFont typeface="Arial"/>
              <a:buChar char="•"/>
            </a:pPr>
            <a:r>
              <a:rPr sz="1600" b="0" i="0">
                <a:solidFill>
                  <a:srgbClr val="1F2933"/>
                </a:solidFill>
                <a:latin typeface="Calibri"/>
              </a:rPr>
              <a:t>Cumulative parasitic energy in Wh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Title"/>
          <p:cNvSpPr txBox="1"/>
          <p:nvPr/>
        </p:nvSpPr>
        <p:spPr>
          <a:xfrm>
            <a:off x="146304" y="100584"/>
            <a:ext cx="9000000" cy="3936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 lnSpcReduction="10000"/>
          </a:bodyPr>
          <a:lstStyle/>
          <a:p>
            <a:pPr algn="l"/>
            <a:r>
              <a:rPr lang="en-US" sz="2200" b="1" u="sng">
                <a:solidFill>
                  <a:srgbClr val="002060"/>
                </a:solidFill>
                <a:latin typeface="Times New Roman" panose="02020603050405020304"/>
                <a:cs typeface="Times New Roman" panose="02020603050405020304"/>
              </a:rPr>
              <a:t>Result/Outcomes</a:t>
            </a:r>
          </a:p>
        </p:txBody>
      </p:sp>
      <p:sp>
        <p:nvSpPr>
          <p:cNvPr id="134" name="Subheading"/>
          <p:cNvSpPr txBox="1"/>
          <p:nvPr/>
        </p:nvSpPr>
        <p:spPr>
          <a:xfrm>
            <a:off x="3931920" y="54864"/>
            <a:ext cx="4754880" cy="384048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000000"/>
                </a:solidFill>
                <a:latin typeface="Calibri"/>
              </a:rPr>
              <a:t>LIVE DASHBOARD &amp; METRICS</a:t>
            </a:r>
          </a:p>
        </p:txBody>
      </p:sp>
      <p:sp>
        <p:nvSpPr>
          <p:cNvPr id="135" name="Content Card"/>
          <p:cNvSpPr/>
          <p:nvPr/>
        </p:nvSpPr>
        <p:spPr>
          <a:xfrm>
            <a:off x="457200" y="914400"/>
            <a:ext cx="11274552" cy="5440680"/>
          </a:xfrm>
          <a:prstGeom prst="roundRect">
            <a:avLst>
              <a:gd name="adj" fmla="val 3000"/>
            </a:avLst>
          </a:prstGeom>
          <a:solidFill>
            <a:srgbClr val="EEF5FA"/>
          </a:solidFill>
          <a:ln w="19050">
            <a:solidFill>
              <a:srgbClr val="9CC3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Strategy tile 1"/>
          <p:cNvSpPr/>
          <p:nvPr/>
        </p:nvSpPr>
        <p:spPr>
          <a:xfrm>
            <a:off x="731520" y="1143000"/>
            <a:ext cx="2542032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90A4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52606D"/>
                </a:solidFill>
                <a:latin typeface="Calibri"/>
              </a:rPr>
              <a:t>BASELINE</a:t>
            </a:r>
          </a:p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0B3C5D"/>
                </a:solidFill>
                <a:latin typeface="Calibri"/>
              </a:rPr>
              <a:t>Passive (No Cooling)</a:t>
            </a:r>
          </a:p>
          <a:p>
            <a:pPr algn="l"/>
            <a:r>
              <a:rPr sz="1400" b="0" i="0">
                <a:solidFill>
                  <a:srgbClr val="1F2933"/>
                </a:solidFill>
                <a:latin typeface="Calibri"/>
              </a:rPr>
              <a:t>u = 0, natural convection</a:t>
            </a:r>
          </a:p>
        </p:txBody>
      </p:sp>
      <p:sp>
        <p:nvSpPr>
          <p:cNvPr id="137" name="Strategy tile 2"/>
          <p:cNvSpPr/>
          <p:nvPr/>
        </p:nvSpPr>
        <p:spPr>
          <a:xfrm>
            <a:off x="3456432" y="1143000"/>
            <a:ext cx="2542032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F5A623"/>
                </a:solidFill>
                <a:latin typeface="Calibri"/>
              </a:rPr>
              <a:t>REACTIVE</a:t>
            </a:r>
          </a:p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0B3C5D"/>
                </a:solidFill>
                <a:latin typeface="Calibri"/>
              </a:rPr>
              <a:t>Hysteresis (Bang-Bang)</a:t>
            </a:r>
          </a:p>
          <a:p>
            <a:pPr algn="l"/>
            <a:r>
              <a:rPr sz="1400" b="0" i="0">
                <a:solidFill>
                  <a:srgbClr val="1F2933"/>
                </a:solidFill>
                <a:latin typeface="Calibri"/>
              </a:rPr>
              <a:t>On at 34°C, off at 29.5°C</a:t>
            </a:r>
          </a:p>
        </p:txBody>
      </p:sp>
      <p:sp>
        <p:nvSpPr>
          <p:cNvPr id="138" name="Strategy tile 3"/>
          <p:cNvSpPr/>
          <p:nvPr/>
        </p:nvSpPr>
        <p:spPr>
          <a:xfrm>
            <a:off x="6181344" y="1143000"/>
            <a:ext cx="2542032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4A90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4A90C2"/>
                </a:solidFill>
                <a:latin typeface="Calibri"/>
              </a:rPr>
              <a:t>FEEDBACK</a:t>
            </a:r>
          </a:p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0B3C5D"/>
                </a:solidFill>
                <a:latin typeface="Calibri"/>
              </a:rPr>
              <a:t>Closed-Loop PID</a:t>
            </a:r>
          </a:p>
          <a:p>
            <a:pPr algn="l"/>
            <a:r>
              <a:rPr sz="1400" b="0" i="0">
                <a:solidFill>
                  <a:srgbClr val="1F2933"/>
                </a:solidFill>
                <a:latin typeface="Calibri"/>
              </a:rPr>
              <a:t>P-I-D feedback control</a:t>
            </a:r>
          </a:p>
        </p:txBody>
      </p:sp>
      <p:sp>
        <p:nvSpPr>
          <p:cNvPr id="139" name="Strategy tile 4"/>
          <p:cNvSpPr/>
          <p:nvPr/>
        </p:nvSpPr>
        <p:spPr>
          <a:xfrm>
            <a:off x="8906256" y="1143000"/>
            <a:ext cx="2542032" cy="1280160"/>
          </a:xfrm>
          <a:prstGeom prst="roundRect">
            <a:avLst>
              <a:gd name="adj" fmla="val 12000"/>
            </a:avLst>
          </a:prstGeom>
          <a:solidFill>
            <a:srgbClr val="E3F4F2"/>
          </a:solidFill>
          <a:ln w="38100">
            <a:solidFill>
              <a:srgbClr val="0B7A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0B7A75"/>
                </a:solidFill>
                <a:latin typeface="Calibri"/>
              </a:rPr>
              <a:t>OPTIMAL AI</a:t>
            </a:r>
          </a:p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0B3C5D"/>
                </a:solidFill>
                <a:latin typeface="Calibri"/>
              </a:rPr>
              <a:t>ML Look-Ahead (MPC)</a:t>
            </a:r>
          </a:p>
          <a:p>
            <a:pPr algn="l"/>
            <a:r>
              <a:rPr sz="1400" b="0" i="0">
                <a:solidFill>
                  <a:srgbClr val="1F2933"/>
                </a:solidFill>
                <a:latin typeface="Calibri"/>
              </a:rPr>
              <a:t>Anticipatory pre-cooling</a:t>
            </a:r>
          </a:p>
        </p:txBody>
      </p:sp>
      <p:sp>
        <p:nvSpPr>
          <p:cNvPr id="140" name="Metric tile 1"/>
          <p:cNvSpPr/>
          <p:nvPr/>
        </p:nvSpPr>
        <p:spPr>
          <a:xfrm>
            <a:off x="731520" y="2697480"/>
            <a:ext cx="1673352" cy="1783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9CC3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/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52606D"/>
                </a:solidFill>
                <a:latin typeface="Calibri"/>
              </a:rPr>
              <a:t>Core Temp</a:t>
            </a:r>
          </a:p>
          <a:p>
            <a:pPr algn="l">
              <a:spcAft>
                <a:spcPts val="300"/>
              </a:spcAft>
            </a:pPr>
            <a:r>
              <a:rPr sz="2800" b="1" i="0">
                <a:solidFill>
                  <a:srgbClr val="C0392B"/>
                </a:solidFill>
                <a:latin typeface="Calibri"/>
              </a:rPr>
              <a:t>24.0</a:t>
            </a:r>
            <a:r>
              <a:rPr sz="1400" b="0" i="0">
                <a:solidFill>
                  <a:srgbClr val="52606D"/>
                </a:solidFill>
                <a:latin typeface="Calibri"/>
              </a:rPr>
              <a:t> °C</a:t>
            </a:r>
          </a:p>
          <a:p>
            <a:pPr algn="l"/>
            <a:r>
              <a:rPr sz="1300" b="0" i="0">
                <a:solidFill>
                  <a:srgbClr val="1F2933"/>
                </a:solidFill>
                <a:latin typeface="Calibri"/>
              </a:rPr>
              <a:t>Normal operating</a:t>
            </a:r>
          </a:p>
        </p:txBody>
      </p:sp>
      <p:sp>
        <p:nvSpPr>
          <p:cNvPr id="141" name="Metric tile 2"/>
          <p:cNvSpPr/>
          <p:nvPr/>
        </p:nvSpPr>
        <p:spPr>
          <a:xfrm>
            <a:off x="2542032" y="2697480"/>
            <a:ext cx="1673352" cy="1783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9CC3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/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52606D"/>
                </a:solidFill>
                <a:latin typeface="Calibri"/>
              </a:rPr>
              <a:t>Surface Temp</a:t>
            </a:r>
          </a:p>
          <a:p>
            <a:pPr algn="l">
              <a:spcAft>
                <a:spcPts val="300"/>
              </a:spcAft>
            </a:pPr>
            <a:r>
              <a:rPr sz="2800" b="1" i="0">
                <a:solidFill>
                  <a:srgbClr val="B7950B"/>
                </a:solidFill>
                <a:latin typeface="Calibri"/>
              </a:rPr>
              <a:t>24.0</a:t>
            </a:r>
            <a:r>
              <a:rPr sz="1400" b="0" i="0">
                <a:solidFill>
                  <a:srgbClr val="52606D"/>
                </a:solidFill>
                <a:latin typeface="Calibri"/>
              </a:rPr>
              <a:t> °C</a:t>
            </a:r>
          </a:p>
          <a:p>
            <a:pPr algn="l"/>
            <a:r>
              <a:rPr sz="1300" b="0" i="0">
                <a:solidFill>
                  <a:srgbClr val="1F2933"/>
                </a:solidFill>
                <a:latin typeface="Calibri"/>
              </a:rPr>
              <a:t>From thermistor</a:t>
            </a:r>
          </a:p>
        </p:txBody>
      </p:sp>
      <p:sp>
        <p:nvSpPr>
          <p:cNvPr id="142" name="Metric tile 3"/>
          <p:cNvSpPr/>
          <p:nvPr/>
        </p:nvSpPr>
        <p:spPr>
          <a:xfrm>
            <a:off x="4352544" y="2697480"/>
            <a:ext cx="1673352" cy="1783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9CC3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/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52606D"/>
                </a:solidFill>
                <a:latin typeface="Calibri"/>
              </a:rPr>
              <a:t>Forecast +10 s</a:t>
            </a:r>
          </a:p>
          <a:p>
            <a:pPr algn="l">
              <a:spcAft>
                <a:spcPts val="300"/>
              </a:spcAft>
            </a:pPr>
            <a:r>
              <a:rPr sz="2800" b="1" i="0">
                <a:solidFill>
                  <a:srgbClr val="0E7C86"/>
                </a:solidFill>
                <a:latin typeface="Calibri"/>
              </a:rPr>
              <a:t>24.0</a:t>
            </a:r>
            <a:r>
              <a:rPr sz="1400" b="0" i="0">
                <a:solidFill>
                  <a:srgbClr val="52606D"/>
                </a:solidFill>
                <a:latin typeface="Calibri"/>
              </a:rPr>
              <a:t> °C</a:t>
            </a:r>
          </a:p>
          <a:p>
            <a:pPr algn="l"/>
            <a:r>
              <a:rPr sz="1300" b="0" i="0">
                <a:solidFill>
                  <a:srgbClr val="1F2933"/>
                </a:solidFill>
                <a:latin typeface="Calibri"/>
              </a:rPr>
              <a:t>Steady trend</a:t>
            </a:r>
          </a:p>
        </p:txBody>
      </p:sp>
      <p:sp>
        <p:nvSpPr>
          <p:cNvPr id="143" name="Metric tile 4"/>
          <p:cNvSpPr/>
          <p:nvPr/>
        </p:nvSpPr>
        <p:spPr>
          <a:xfrm>
            <a:off x="6163055" y="2697480"/>
            <a:ext cx="1673352" cy="1783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9CC3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/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52606D"/>
                </a:solidFill>
                <a:latin typeface="Calibri"/>
              </a:rPr>
              <a:t>Load Current</a:t>
            </a:r>
          </a:p>
          <a:p>
            <a:pPr algn="l">
              <a:spcAft>
                <a:spcPts val="300"/>
              </a:spcAft>
            </a:pPr>
            <a:r>
              <a:rPr sz="2800" b="1" i="0">
                <a:solidFill>
                  <a:srgbClr val="1F2933"/>
                </a:solidFill>
                <a:latin typeface="Calibri"/>
              </a:rPr>
              <a:t>0.0</a:t>
            </a:r>
            <a:r>
              <a:rPr sz="1400" b="0" i="0">
                <a:solidFill>
                  <a:srgbClr val="52606D"/>
                </a:solidFill>
                <a:latin typeface="Calibri"/>
              </a:rPr>
              <a:t> A</a:t>
            </a:r>
          </a:p>
          <a:p>
            <a:pPr algn="l"/>
            <a:r>
              <a:rPr sz="1300" b="0" i="0">
                <a:solidFill>
                  <a:srgbClr val="1F2933"/>
                </a:solidFill>
                <a:latin typeface="Calibri"/>
              </a:rPr>
              <a:t>0.0 W heat gen.</a:t>
            </a:r>
          </a:p>
        </p:txBody>
      </p:sp>
      <p:sp>
        <p:nvSpPr>
          <p:cNvPr id="144" name="Metric tile 5"/>
          <p:cNvSpPr/>
          <p:nvPr/>
        </p:nvSpPr>
        <p:spPr>
          <a:xfrm>
            <a:off x="7973568" y="2697480"/>
            <a:ext cx="1673352" cy="1783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9CC3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/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52606D"/>
                </a:solidFill>
                <a:latin typeface="Calibri"/>
              </a:rPr>
              <a:t>Coolant Flow</a:t>
            </a:r>
          </a:p>
          <a:p>
            <a:pPr algn="l">
              <a:spcAft>
                <a:spcPts val="300"/>
              </a:spcAft>
            </a:pPr>
            <a:r>
              <a:rPr sz="2800" b="1" i="0">
                <a:solidFill>
                  <a:srgbClr val="2563A8"/>
                </a:solidFill>
                <a:latin typeface="Calibri"/>
              </a:rPr>
              <a:t>0.0</a:t>
            </a:r>
            <a:r>
              <a:rPr sz="1400" b="0" i="0">
                <a:solidFill>
                  <a:srgbClr val="52606D"/>
                </a:solidFill>
                <a:latin typeface="Calibri"/>
              </a:rPr>
              <a:t> %</a:t>
            </a:r>
          </a:p>
          <a:p>
            <a:pPr algn="l"/>
            <a:r>
              <a:rPr sz="1300" b="0" i="0">
                <a:solidFill>
                  <a:srgbClr val="1F2933"/>
                </a:solidFill>
                <a:latin typeface="Calibri"/>
              </a:rPr>
              <a:t>0.0 W parasitic</a:t>
            </a:r>
          </a:p>
        </p:txBody>
      </p:sp>
      <p:sp>
        <p:nvSpPr>
          <p:cNvPr id="145" name="Metric tile 6"/>
          <p:cNvSpPr/>
          <p:nvPr/>
        </p:nvSpPr>
        <p:spPr>
          <a:xfrm>
            <a:off x="9784080" y="2697480"/>
            <a:ext cx="1673352" cy="1783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9CC3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/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52606D"/>
                </a:solidFill>
                <a:latin typeface="Calibri"/>
              </a:rPr>
              <a:t>Parasitic Energy</a:t>
            </a:r>
          </a:p>
          <a:p>
            <a:pPr algn="l">
              <a:spcAft>
                <a:spcPts val="300"/>
              </a:spcAft>
            </a:pPr>
            <a:r>
              <a:rPr sz="2800" b="1" i="0">
                <a:solidFill>
                  <a:srgbClr val="7B3FA0"/>
                </a:solidFill>
                <a:latin typeface="Calibri"/>
              </a:rPr>
              <a:t>0.000</a:t>
            </a:r>
            <a:r>
              <a:rPr sz="1400" b="0" i="0">
                <a:solidFill>
                  <a:srgbClr val="52606D"/>
                </a:solidFill>
                <a:latin typeface="Calibri"/>
              </a:rPr>
              <a:t> Wh</a:t>
            </a:r>
          </a:p>
          <a:p>
            <a:pPr algn="l"/>
            <a:r>
              <a:rPr sz="1300" b="0" i="0">
                <a:solidFill>
                  <a:srgbClr val="1F2933"/>
                </a:solidFill>
                <a:latin typeface="Calibri"/>
              </a:rPr>
              <a:t>Saving vs ref.</a:t>
            </a:r>
          </a:p>
        </p:txBody>
      </p:sp>
      <p:sp>
        <p:nvSpPr>
          <p:cNvPr id="146" name="Metric caption"/>
          <p:cNvSpPr txBox="1"/>
          <p:nvPr/>
        </p:nvSpPr>
        <p:spPr>
          <a:xfrm>
            <a:off x="731520" y="4526280"/>
            <a:ext cx="10725912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300" b="0" i="1">
                <a:solidFill>
                  <a:srgbClr val="52606D"/>
                </a:solidFill>
                <a:latin typeface="Calibri"/>
              </a:rPr>
              <a:t>Metric values shown are the simulation start state (24°C ambient, 0 A load).</a:t>
            </a:r>
          </a:p>
        </p:txBody>
      </p:sp>
      <p:sp>
        <p:nvSpPr>
          <p:cNvPr id="147" name="Controls note"/>
          <p:cNvSpPr/>
          <p:nvPr/>
        </p:nvSpPr>
        <p:spPr>
          <a:xfrm>
            <a:off x="731520" y="4937760"/>
            <a:ext cx="5266944" cy="1097280"/>
          </a:xfrm>
          <a:prstGeom prst="roundRect">
            <a:avLst>
              <a:gd name="adj" fmla="val 12000"/>
            </a:avLst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Header controls: 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Run / Pause, 15 A Burst Pulse, Reset and 1x to 10x simulation speed.</a:t>
            </a:r>
          </a:p>
        </p:txBody>
      </p:sp>
      <p:sp>
        <p:nvSpPr>
          <p:cNvPr id="148" name="Panels note"/>
          <p:cNvSpPr/>
          <p:nvPr/>
        </p:nvSpPr>
        <p:spPr>
          <a:xfrm>
            <a:off x="6190488" y="4937760"/>
            <a:ext cx="5266944" cy="1097280"/>
          </a:xfrm>
          <a:prstGeom prst="roundRect">
            <a:avLst>
              <a:gd name="adj" fmla="val 12000"/>
            </a:avLst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Panels: 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live waveforms, 21700 cell view, drive-cycle parameters and the strategy benchmark.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Title"/>
          <p:cNvSpPr txBox="1"/>
          <p:nvPr/>
        </p:nvSpPr>
        <p:spPr>
          <a:xfrm>
            <a:off x="146304" y="100584"/>
            <a:ext cx="9000000" cy="3936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 lnSpcReduction="10000"/>
          </a:bodyPr>
          <a:lstStyle/>
          <a:p>
            <a:pPr algn="l"/>
            <a:r>
              <a:rPr lang="en-US" sz="2200" b="1" u="sng">
                <a:solidFill>
                  <a:srgbClr val="002060"/>
                </a:solidFill>
                <a:latin typeface="Times New Roman" panose="02020603050405020304"/>
                <a:cs typeface="Times New Roman" panose="02020603050405020304"/>
              </a:rPr>
              <a:t>Result/Outcomes</a:t>
            </a:r>
          </a:p>
        </p:txBody>
      </p:sp>
      <p:sp>
        <p:nvSpPr>
          <p:cNvPr id="134" name="Subheading"/>
          <p:cNvSpPr txBox="1"/>
          <p:nvPr/>
        </p:nvSpPr>
        <p:spPr>
          <a:xfrm>
            <a:off x="3931920" y="54864"/>
            <a:ext cx="4754880" cy="384048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000000"/>
                </a:solidFill>
                <a:latin typeface="Calibri"/>
              </a:rPr>
              <a:t>LOAD PROFILE &amp; LIVE WAVEFORMS</a:t>
            </a:r>
          </a:p>
        </p:txBody>
      </p:sp>
      <p:sp>
        <p:nvSpPr>
          <p:cNvPr id="135" name="Content Card"/>
          <p:cNvSpPr/>
          <p:nvPr/>
        </p:nvSpPr>
        <p:spPr>
          <a:xfrm>
            <a:off x="457200" y="914400"/>
            <a:ext cx="11274552" cy="5440680"/>
          </a:xfrm>
          <a:prstGeom prst="roundRect">
            <a:avLst>
              <a:gd name="adj" fmla="val 3000"/>
            </a:avLst>
          </a:prstGeom>
          <a:solidFill>
            <a:srgbClr val="EEF5FA"/>
          </a:solidFill>
          <a:ln w="19050">
            <a:solidFill>
              <a:srgbClr val="9CC3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36" name="Chart load profile"/>
          <p:cNvGraphicFramePr>
            <a:graphicFrameLocks noGrp="1"/>
          </p:cNvGraphicFramePr>
          <p:nvPr/>
        </p:nvGraphicFramePr>
        <p:xfrm>
          <a:off x="731520" y="1143000"/>
          <a:ext cx="6492240" cy="3977639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7" name="Guide panel"/>
          <p:cNvSpPr/>
          <p:nvPr/>
        </p:nvSpPr>
        <p:spPr>
          <a:xfrm>
            <a:off x="7452360" y="1143000"/>
            <a:ext cx="4005072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0B3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Guide title"/>
          <p:cNvSpPr txBox="1"/>
          <p:nvPr/>
        </p:nvSpPr>
        <p:spPr>
          <a:xfrm>
            <a:off x="7589520" y="1207008"/>
            <a:ext cx="3749039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700" b="1" i="0">
                <a:solidFill>
                  <a:srgbClr val="0B3C5D"/>
                </a:solidFill>
                <a:latin typeface="Calibri"/>
              </a:rPr>
              <a:t>Waveform panel guide</a:t>
            </a:r>
          </a:p>
        </p:txBody>
      </p:sp>
      <p:cxnSp>
        <p:nvCxnSpPr>
          <p:cNvPr id="139" name="Legend line"/>
          <p:cNvCxnSpPr/>
          <p:nvPr/>
        </p:nvCxnSpPr>
        <p:spPr>
          <a:xfrm>
            <a:off x="7635240" y="1892808"/>
            <a:ext cx="502920" cy="0"/>
          </a:xfrm>
          <a:prstGeom prst="line">
            <a:avLst/>
          </a:prstGeom>
          <a:ln w="38100">
            <a:solidFill>
              <a:srgbClr val="EF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Legend label 1"/>
          <p:cNvSpPr txBox="1"/>
          <p:nvPr/>
        </p:nvSpPr>
        <p:spPr>
          <a:xfrm>
            <a:off x="8275320" y="1691640"/>
            <a:ext cx="3108960" cy="4114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500" b="0" i="0">
                <a:solidFill>
                  <a:srgbClr val="1F2933"/>
                </a:solidFill>
                <a:latin typeface="Calibri"/>
              </a:rPr>
              <a:t>T_core</a:t>
            </a:r>
          </a:p>
        </p:txBody>
      </p:sp>
      <p:cxnSp>
        <p:nvCxnSpPr>
          <p:cNvPr id="141" name="Legend line"/>
          <p:cNvCxnSpPr/>
          <p:nvPr/>
        </p:nvCxnSpPr>
        <p:spPr>
          <a:xfrm>
            <a:off x="7635240" y="2368296"/>
            <a:ext cx="502920" cy="0"/>
          </a:xfrm>
          <a:prstGeom prst="line">
            <a:avLst/>
          </a:prstGeom>
          <a:ln w="38100">
            <a:solidFill>
              <a:srgbClr val="FACC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Legend label 2"/>
          <p:cNvSpPr txBox="1"/>
          <p:nvPr/>
        </p:nvSpPr>
        <p:spPr>
          <a:xfrm>
            <a:off x="8275320" y="2167128"/>
            <a:ext cx="3108960" cy="4114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500" b="0" i="0">
                <a:solidFill>
                  <a:srgbClr val="1F2933"/>
                </a:solidFill>
                <a:latin typeface="Calibri"/>
              </a:rPr>
              <a:t>T_surf</a:t>
            </a:r>
          </a:p>
        </p:txBody>
      </p:sp>
      <p:cxnSp>
        <p:nvCxnSpPr>
          <p:cNvPr id="143" name="Legend line"/>
          <p:cNvCxnSpPr/>
          <p:nvPr/>
        </p:nvCxnSpPr>
        <p:spPr>
          <a:xfrm>
            <a:off x="7635240" y="2843784"/>
            <a:ext cx="502920" cy="0"/>
          </a:xfrm>
          <a:prstGeom prst="line">
            <a:avLst/>
          </a:prstGeom>
          <a:ln w="38100">
            <a:solidFill>
              <a:srgbClr val="06B6D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" name="Legend label 3"/>
          <p:cNvSpPr txBox="1"/>
          <p:nvPr/>
        </p:nvSpPr>
        <p:spPr>
          <a:xfrm>
            <a:off x="8275320" y="2642616"/>
            <a:ext cx="3108960" cy="4114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500" b="0" i="0">
                <a:solidFill>
                  <a:srgbClr val="1F2933"/>
                </a:solidFill>
                <a:latin typeface="Calibri"/>
              </a:rPr>
              <a:t>Forecast (t+10 s)</a:t>
            </a:r>
          </a:p>
        </p:txBody>
      </p:sp>
      <p:cxnSp>
        <p:nvCxnSpPr>
          <p:cNvPr id="145" name="Legend line"/>
          <p:cNvCxnSpPr/>
          <p:nvPr/>
        </p:nvCxnSpPr>
        <p:spPr>
          <a:xfrm>
            <a:off x="7635240" y="3319272"/>
            <a:ext cx="502920" cy="0"/>
          </a:xfrm>
          <a:prstGeom prst="line">
            <a:avLst/>
          </a:prstGeom>
          <a:ln w="38100">
            <a:solidFill>
              <a:srgbClr val="10B98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Legend label 4"/>
          <p:cNvSpPr txBox="1"/>
          <p:nvPr/>
        </p:nvSpPr>
        <p:spPr>
          <a:xfrm>
            <a:off x="8275320" y="3118104"/>
            <a:ext cx="3108960" cy="4114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500" b="0" i="0">
                <a:solidFill>
                  <a:srgbClr val="1F2933"/>
                </a:solidFill>
                <a:latin typeface="Calibri"/>
              </a:rPr>
              <a:t>Target 30°C</a:t>
            </a:r>
          </a:p>
        </p:txBody>
      </p:sp>
      <p:cxnSp>
        <p:nvCxnSpPr>
          <p:cNvPr id="147" name="Legend line"/>
          <p:cNvCxnSpPr/>
          <p:nvPr/>
        </p:nvCxnSpPr>
        <p:spPr>
          <a:xfrm>
            <a:off x="7635240" y="3794760"/>
            <a:ext cx="502920" cy="0"/>
          </a:xfrm>
          <a:prstGeom prst="line">
            <a:avLst/>
          </a:prstGeom>
          <a:ln w="38100">
            <a:solidFill>
              <a:srgbClr val="EF4444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Legend label 5"/>
          <p:cNvSpPr txBox="1"/>
          <p:nvPr/>
        </p:nvSpPr>
        <p:spPr>
          <a:xfrm>
            <a:off x="8275320" y="3593592"/>
            <a:ext cx="3108960" cy="4114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500" b="0" i="0">
                <a:solidFill>
                  <a:srgbClr val="1F2933"/>
                </a:solidFill>
                <a:latin typeface="Calibri"/>
              </a:rPr>
              <a:t>Critical limit 35°C</a:t>
            </a:r>
          </a:p>
        </p:txBody>
      </p:sp>
      <p:sp>
        <p:nvSpPr>
          <p:cNvPr id="149" name="Legend swatch"/>
          <p:cNvSpPr/>
          <p:nvPr/>
        </p:nvSpPr>
        <p:spPr>
          <a:xfrm>
            <a:off x="7635240" y="4142232"/>
            <a:ext cx="502920" cy="256032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Legend label 6"/>
          <p:cNvSpPr txBox="1"/>
          <p:nvPr/>
        </p:nvSpPr>
        <p:spPr>
          <a:xfrm>
            <a:off x="8275320" y="4069080"/>
            <a:ext cx="3108960" cy="4114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500" b="0" i="0">
                <a:solidFill>
                  <a:srgbClr val="1F2933"/>
                </a:solidFill>
                <a:latin typeface="Calibri"/>
              </a:rPr>
              <a:t>Coolant flow u(t)</a:t>
            </a:r>
          </a:p>
        </p:txBody>
      </p:sp>
      <p:cxnSp>
        <p:nvCxnSpPr>
          <p:cNvPr id="151" name="Legend line"/>
          <p:cNvCxnSpPr/>
          <p:nvPr/>
        </p:nvCxnSpPr>
        <p:spPr>
          <a:xfrm>
            <a:off x="7635240" y="4745736"/>
            <a:ext cx="502920" cy="0"/>
          </a:xfrm>
          <a:prstGeom prst="line">
            <a:avLst/>
          </a:prstGeom>
          <a:ln w="38100">
            <a:solidFill>
              <a:srgbClr val="64748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Legend label 7"/>
          <p:cNvSpPr txBox="1"/>
          <p:nvPr/>
        </p:nvSpPr>
        <p:spPr>
          <a:xfrm>
            <a:off x="8275320" y="4544568"/>
            <a:ext cx="3108960" cy="4114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500" b="0" i="0">
                <a:solidFill>
                  <a:srgbClr val="1F2933"/>
                </a:solidFill>
                <a:latin typeface="Calibri"/>
              </a:rPr>
              <a:t>Load current I(t)</a:t>
            </a:r>
          </a:p>
        </p:txBody>
      </p:sp>
      <p:sp>
        <p:nvSpPr>
          <p:cNvPr id="153" name="Cycle note"/>
          <p:cNvSpPr/>
          <p:nvPr/>
        </p:nvSpPr>
        <p:spPr>
          <a:xfrm>
            <a:off x="731520" y="5303520"/>
            <a:ext cx="10725912" cy="7772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0B3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36576" rIns="182880" bIns="36576"/>
          <a:lstStyle/>
          <a:p>
            <a:pPr algn="ctr"/>
            <a:r>
              <a:rPr sz="1500" b="1" i="0">
                <a:solidFill>
                  <a:srgbClr val="0B3C5D"/>
                </a:solidFill>
                <a:latin typeface="Calibri"/>
              </a:rPr>
              <a:t>75 s cycle: </a:t>
            </a:r>
            <a:r>
              <a:rPr sz="1500" b="0" i="0">
                <a:solidFill>
                  <a:srgbClr val="1F2933"/>
                </a:solidFill>
                <a:latin typeface="Calibri"/>
              </a:rPr>
              <a:t>idle, urban cruise, highway burst (up to 13 A), regenerative braking (-2.5 A), moderate cruise, coast. The burst is what drives the heat spike.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Title"/>
          <p:cNvSpPr txBox="1"/>
          <p:nvPr/>
        </p:nvSpPr>
        <p:spPr>
          <a:xfrm>
            <a:off x="146304" y="100584"/>
            <a:ext cx="9000000" cy="3936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 lnSpcReduction="10000"/>
          </a:bodyPr>
          <a:lstStyle/>
          <a:p>
            <a:pPr algn="l"/>
            <a:r>
              <a:rPr lang="en-US" sz="2200" b="1" u="sng">
                <a:solidFill>
                  <a:srgbClr val="002060"/>
                </a:solidFill>
                <a:latin typeface="Times New Roman" panose="02020603050405020304"/>
                <a:cs typeface="Times New Roman" panose="02020603050405020304"/>
              </a:rPr>
              <a:t>Result/Outcomes</a:t>
            </a:r>
          </a:p>
        </p:txBody>
      </p:sp>
      <p:sp>
        <p:nvSpPr>
          <p:cNvPr id="134" name="Subheading"/>
          <p:cNvSpPr txBox="1"/>
          <p:nvPr/>
        </p:nvSpPr>
        <p:spPr>
          <a:xfrm>
            <a:off x="3931920" y="54864"/>
            <a:ext cx="4754880" cy="384048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000000"/>
                </a:solidFill>
                <a:latin typeface="Calibri"/>
              </a:rPr>
              <a:t>21700 CELL THERMAL STATE &amp; DIAGNOSTICS</a:t>
            </a:r>
          </a:p>
        </p:txBody>
      </p:sp>
      <p:sp>
        <p:nvSpPr>
          <p:cNvPr id="135" name="Content Card"/>
          <p:cNvSpPr/>
          <p:nvPr/>
        </p:nvSpPr>
        <p:spPr>
          <a:xfrm>
            <a:off x="457200" y="914400"/>
            <a:ext cx="11274552" cy="5440680"/>
          </a:xfrm>
          <a:prstGeom prst="roundRect">
            <a:avLst>
              <a:gd name="adj" fmla="val 3000"/>
            </a:avLst>
          </a:prstGeom>
          <a:solidFill>
            <a:srgbClr val="EEF5FA"/>
          </a:solidFill>
          <a:ln w="19050">
            <a:solidFill>
              <a:srgbClr val="9CC3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Coolant jacket"/>
          <p:cNvSpPr/>
          <p:nvPr/>
        </p:nvSpPr>
        <p:spPr>
          <a:xfrm>
            <a:off x="1097280" y="1737360"/>
            <a:ext cx="3749039" cy="3749039"/>
          </a:xfrm>
          <a:prstGeom prst="ellipse">
            <a:avLst/>
          </a:prstGeom>
          <a:solidFill>
            <a:srgbClr val="BF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Steel casing"/>
          <p:cNvSpPr/>
          <p:nvPr/>
        </p:nvSpPr>
        <p:spPr>
          <a:xfrm>
            <a:off x="1325880" y="1965960"/>
            <a:ext cx="3291840" cy="3291840"/>
          </a:xfrm>
          <a:prstGeom prst="ellipse">
            <a:avLst/>
          </a:prstGeom>
          <a:solidFill>
            <a:srgbClr val="8FA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Surface layer"/>
          <p:cNvSpPr/>
          <p:nvPr/>
        </p:nvSpPr>
        <p:spPr>
          <a:xfrm>
            <a:off x="1554480" y="2194560"/>
            <a:ext cx="2834640" cy="2834640"/>
          </a:xfrm>
          <a:prstGeom prst="ellipse">
            <a:avLst/>
          </a:prstGeom>
          <a:solidFill>
            <a:srgbClr val="F6C4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Barrier"/>
          <p:cNvSpPr/>
          <p:nvPr/>
        </p:nvSpPr>
        <p:spPr>
          <a:xfrm>
            <a:off x="2103120" y="2743200"/>
            <a:ext cx="1737360" cy="1737360"/>
          </a:xfrm>
          <a:prstGeom prst="ellipse">
            <a:avLst/>
          </a:prstGeom>
          <a:solidFill>
            <a:srgbClr val="F0A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Core"/>
          <p:cNvSpPr/>
          <p:nvPr/>
        </p:nvSpPr>
        <p:spPr>
          <a:xfrm>
            <a:off x="2221992" y="2862072"/>
            <a:ext cx="1499616" cy="1499616"/>
          </a:xfrm>
          <a:prstGeom prst="ellipse">
            <a:avLst/>
          </a:prstGeom>
          <a:solidFill>
            <a:srgbClr val="E85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Core label"/>
          <p:cNvSpPr txBox="1"/>
          <p:nvPr/>
        </p:nvSpPr>
        <p:spPr>
          <a:xfrm>
            <a:off x="2240280" y="3264408"/>
            <a:ext cx="1463040" cy="69494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CORE</a:t>
            </a:r>
          </a:p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T_core</a:t>
            </a:r>
          </a:p>
        </p:txBody>
      </p:sp>
      <p:sp>
        <p:nvSpPr>
          <p:cNvPr id="142" name="Surface label"/>
          <p:cNvSpPr txBox="1"/>
          <p:nvPr/>
        </p:nvSpPr>
        <p:spPr>
          <a:xfrm>
            <a:off x="2057400" y="4526280"/>
            <a:ext cx="1828800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400" b="1" i="0">
                <a:solidFill>
                  <a:srgbClr val="1F2933"/>
                </a:solidFill>
                <a:latin typeface="Calibri"/>
              </a:rPr>
              <a:t>SURFACE  T_surf</a:t>
            </a:r>
          </a:p>
        </p:txBody>
      </p:sp>
      <p:sp>
        <p:nvSpPr>
          <p:cNvPr id="143" name="Coolant label"/>
          <p:cNvSpPr txBox="1"/>
          <p:nvPr/>
        </p:nvSpPr>
        <p:spPr>
          <a:xfrm>
            <a:off x="1783080" y="5513832"/>
            <a:ext cx="237744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400" b="0" i="0">
                <a:solidFill>
                  <a:srgbClr val="0B3C5D"/>
                </a:solidFill>
                <a:latin typeface="Calibri"/>
              </a:rPr>
              <a:t>Coolant jacket (cold plate)</a:t>
            </a:r>
          </a:p>
        </p:txBody>
      </p:sp>
      <p:sp>
        <p:nvSpPr>
          <p:cNvPr id="144" name="Badge title"/>
          <p:cNvSpPr txBox="1"/>
          <p:nvPr/>
        </p:nvSpPr>
        <p:spPr>
          <a:xfrm>
            <a:off x="5486400" y="1143000"/>
            <a:ext cx="5943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700" b="1" i="0">
                <a:solidFill>
                  <a:srgbClr val="0B3C5D"/>
                </a:solidFill>
                <a:latin typeface="Calibri"/>
              </a:rPr>
              <a:t>Core status badges</a:t>
            </a:r>
          </a:p>
        </p:txBody>
      </p:sp>
      <p:sp>
        <p:nvSpPr>
          <p:cNvPr id="145" name="Badge 1"/>
          <p:cNvSpPr/>
          <p:nvPr/>
        </p:nvSpPr>
        <p:spPr>
          <a:xfrm>
            <a:off x="5486400" y="1554480"/>
            <a:ext cx="1874519" cy="868680"/>
          </a:xfrm>
          <a:prstGeom prst="roundRect">
            <a:avLst>
              <a:gd name="adj" fmla="val 15000"/>
            </a:avLst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27432" rIns="45720" bIns="27432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Optimal Zone</a:t>
            </a:r>
          </a:p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core ≤ 30.5°C</a:t>
            </a:r>
          </a:p>
        </p:txBody>
      </p:sp>
      <p:sp>
        <p:nvSpPr>
          <p:cNvPr id="146" name="Badge 2"/>
          <p:cNvSpPr/>
          <p:nvPr/>
        </p:nvSpPr>
        <p:spPr>
          <a:xfrm>
            <a:off x="7498079" y="1554480"/>
            <a:ext cx="1874519" cy="868680"/>
          </a:xfrm>
          <a:prstGeom prst="roundRect">
            <a:avLst>
              <a:gd name="adj" fmla="val 15000"/>
            </a:avLst>
          </a:prstGeom>
          <a:solidFill>
            <a:srgbClr val="C77D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27432" rIns="45720" bIns="27432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Cooling Engaged</a:t>
            </a:r>
          </a:p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30.5 to 35°C</a:t>
            </a:r>
          </a:p>
        </p:txBody>
      </p:sp>
      <p:sp>
        <p:nvSpPr>
          <p:cNvPr id="147" name="Badge 3"/>
          <p:cNvSpPr/>
          <p:nvPr/>
        </p:nvSpPr>
        <p:spPr>
          <a:xfrm>
            <a:off x="9509760" y="1554480"/>
            <a:ext cx="1874519" cy="868680"/>
          </a:xfrm>
          <a:prstGeom prst="roundRect">
            <a:avLst>
              <a:gd name="adj" fmla="val 15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27432" rIns="45720" bIns="27432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Thermal Stress</a:t>
            </a:r>
          </a:p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core &gt; 35°C</a:t>
            </a:r>
          </a:p>
        </p:txBody>
      </p:sp>
      <p:sp>
        <p:nvSpPr>
          <p:cNvPr id="148" name="Scale title"/>
          <p:cNvSpPr txBox="1"/>
          <p:nvPr/>
        </p:nvSpPr>
        <p:spPr>
          <a:xfrm>
            <a:off x="5486400" y="2606040"/>
            <a:ext cx="5943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700" b="1" i="0">
                <a:solidFill>
                  <a:srgbClr val="0B3C5D"/>
                </a:solidFill>
                <a:latin typeface="Calibri"/>
              </a:rPr>
              <a:t>Cell colour scale (°C)</a:t>
            </a:r>
          </a:p>
        </p:txBody>
      </p:sp>
      <p:sp>
        <p:nvSpPr>
          <p:cNvPr id="149" name="Scale 1"/>
          <p:cNvSpPr/>
          <p:nvPr/>
        </p:nvSpPr>
        <p:spPr>
          <a:xfrm>
            <a:off x="5486400" y="3017520"/>
            <a:ext cx="1097280" cy="50292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18288" rIns="18288" bIns="18288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&lt; 26</a:t>
            </a:r>
          </a:p>
        </p:txBody>
      </p:sp>
      <p:sp>
        <p:nvSpPr>
          <p:cNvPr id="150" name="Scale 2"/>
          <p:cNvSpPr/>
          <p:nvPr/>
        </p:nvSpPr>
        <p:spPr>
          <a:xfrm>
            <a:off x="6675120" y="3017520"/>
            <a:ext cx="1097280" cy="502920"/>
          </a:xfrm>
          <a:prstGeom prst="roundRect">
            <a:avLst>
              <a:gd name="adj" fmla="val 2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18288" rIns="18288" bIns="18288"/>
          <a:lstStyle/>
          <a:p>
            <a:pPr algn="ctr"/>
            <a:r>
              <a:rPr sz="1400" b="1" i="0">
                <a:solidFill>
                  <a:srgbClr val="1F2933"/>
                </a:solidFill>
                <a:latin typeface="Calibri"/>
              </a:rPr>
              <a:t>26-30</a:t>
            </a:r>
          </a:p>
        </p:txBody>
      </p:sp>
      <p:sp>
        <p:nvSpPr>
          <p:cNvPr id="151" name="Scale 3"/>
          <p:cNvSpPr/>
          <p:nvPr/>
        </p:nvSpPr>
        <p:spPr>
          <a:xfrm>
            <a:off x="7863840" y="3017520"/>
            <a:ext cx="1097280" cy="502920"/>
          </a:xfrm>
          <a:prstGeom prst="roundRect">
            <a:avLst>
              <a:gd name="adj" fmla="val 2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18288" rIns="18288" bIns="18288"/>
          <a:lstStyle/>
          <a:p>
            <a:pPr algn="ctr"/>
            <a:r>
              <a:rPr sz="1400" b="1" i="0">
                <a:solidFill>
                  <a:srgbClr val="1F2933"/>
                </a:solidFill>
                <a:latin typeface="Calibri"/>
              </a:rPr>
              <a:t>30-33</a:t>
            </a:r>
          </a:p>
        </p:txBody>
      </p:sp>
      <p:sp>
        <p:nvSpPr>
          <p:cNvPr id="152" name="Scale 4"/>
          <p:cNvSpPr/>
          <p:nvPr/>
        </p:nvSpPr>
        <p:spPr>
          <a:xfrm>
            <a:off x="9052560" y="3017520"/>
            <a:ext cx="1097280" cy="502920"/>
          </a:xfrm>
          <a:prstGeom prst="roundRect">
            <a:avLst>
              <a:gd name="adj" fmla="val 20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18288" rIns="18288" bIns="18288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33-36</a:t>
            </a:r>
          </a:p>
        </p:txBody>
      </p:sp>
      <p:sp>
        <p:nvSpPr>
          <p:cNvPr id="153" name="Scale 5"/>
          <p:cNvSpPr/>
          <p:nvPr/>
        </p:nvSpPr>
        <p:spPr>
          <a:xfrm>
            <a:off x="10241280" y="3017520"/>
            <a:ext cx="1097280" cy="502920"/>
          </a:xfrm>
          <a:prstGeom prst="roundRect">
            <a:avLst>
              <a:gd name="adj" fmla="val 2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18288" rIns="18288" bIns="18288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≥ 36</a:t>
            </a:r>
          </a:p>
        </p:txBody>
      </p:sp>
      <p:sp>
        <p:nvSpPr>
          <p:cNvPr id="154" name="Diag tile 1"/>
          <p:cNvSpPr/>
          <p:nvPr/>
        </p:nvSpPr>
        <p:spPr>
          <a:xfrm>
            <a:off x="5486400" y="3749039"/>
            <a:ext cx="2880360" cy="9875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B3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36576" bIns="36576"/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52606D"/>
                </a:solidFill>
                <a:latin typeface="Calibri"/>
              </a:rPr>
              <a:t>ΔT (core - surface)</a:t>
            </a:r>
          </a:p>
          <a:p>
            <a:pPr algn="l"/>
            <a:r>
              <a:rPr sz="2400" b="1" i="0">
                <a:solidFill>
                  <a:srgbClr val="0B3C5D"/>
                </a:solidFill>
                <a:latin typeface="Calibri"/>
              </a:rPr>
              <a:t>0.00°C</a:t>
            </a:r>
          </a:p>
        </p:txBody>
      </p:sp>
      <p:sp>
        <p:nvSpPr>
          <p:cNvPr id="155" name="Diag tile 2"/>
          <p:cNvSpPr/>
          <p:nvPr/>
        </p:nvSpPr>
        <p:spPr>
          <a:xfrm>
            <a:off x="8503920" y="3749039"/>
            <a:ext cx="2880360" cy="9875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B3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36576" bIns="36576"/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52606D"/>
                </a:solidFill>
                <a:latin typeface="Calibri"/>
              </a:rPr>
              <a:t>Internal resistance R_int</a:t>
            </a:r>
          </a:p>
          <a:p>
            <a:pPr algn="l"/>
            <a:r>
              <a:rPr sz="2400" b="1" i="0">
                <a:solidFill>
                  <a:srgbClr val="0B3C5D"/>
                </a:solidFill>
                <a:latin typeface="Calibri"/>
              </a:rPr>
              <a:t>45.0 mΩ</a:t>
            </a:r>
          </a:p>
        </p:txBody>
      </p:sp>
      <p:sp>
        <p:nvSpPr>
          <p:cNvPr id="156" name="Diag tile 3"/>
          <p:cNvSpPr/>
          <p:nvPr/>
        </p:nvSpPr>
        <p:spPr>
          <a:xfrm>
            <a:off x="5486400" y="4846320"/>
            <a:ext cx="2880360" cy="9875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B3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36576" bIns="36576"/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52606D"/>
                </a:solidFill>
                <a:latin typeface="Calibri"/>
              </a:rPr>
              <a:t>Cooling power Q_cool</a:t>
            </a:r>
          </a:p>
          <a:p>
            <a:pPr algn="l"/>
            <a:r>
              <a:rPr sz="2400" b="1" i="0">
                <a:solidFill>
                  <a:srgbClr val="0B3C5D"/>
                </a:solidFill>
                <a:latin typeface="Calibri"/>
              </a:rPr>
              <a:t>0.0 W</a:t>
            </a:r>
          </a:p>
        </p:txBody>
      </p:sp>
      <p:sp>
        <p:nvSpPr>
          <p:cNvPr id="157" name="Diag tile 4"/>
          <p:cNvSpPr/>
          <p:nvPr/>
        </p:nvSpPr>
        <p:spPr>
          <a:xfrm>
            <a:off x="8503920" y="4846320"/>
            <a:ext cx="2880360" cy="9875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B3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36576" bIns="36576"/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52606D"/>
                </a:solidFill>
                <a:latin typeface="Calibri"/>
              </a:rPr>
              <a:t>Estimated SOC</a:t>
            </a:r>
          </a:p>
          <a:p>
            <a:pPr algn="l"/>
            <a:r>
              <a:rPr sz="2400" b="1" i="0">
                <a:solidFill>
                  <a:srgbClr val="0B3C5D"/>
                </a:solidFill>
                <a:latin typeface="Calibri"/>
              </a:rPr>
              <a:t>95.0%</a:t>
            </a:r>
          </a:p>
        </p:txBody>
      </p:sp>
      <p:sp>
        <p:nvSpPr>
          <p:cNvPr id="158" name="Diag caption"/>
          <p:cNvSpPr txBox="1"/>
          <p:nvPr/>
        </p:nvSpPr>
        <p:spPr>
          <a:xfrm>
            <a:off x="5486400" y="5943600"/>
            <a:ext cx="5943600" cy="30175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0" i="1">
                <a:solidFill>
                  <a:srgbClr val="52606D"/>
                </a:solidFill>
                <a:latin typeface="Calibri"/>
              </a:rPr>
              <a:t>Diagnostic values shown are the start state.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Title"/>
          <p:cNvSpPr txBox="1"/>
          <p:nvPr/>
        </p:nvSpPr>
        <p:spPr>
          <a:xfrm>
            <a:off x="146304" y="100584"/>
            <a:ext cx="9000000" cy="3936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 lnSpcReduction="10000"/>
          </a:bodyPr>
          <a:lstStyle/>
          <a:p>
            <a:pPr algn="l"/>
            <a:r>
              <a:rPr lang="en-US" sz="2200" b="1" u="sng">
                <a:solidFill>
                  <a:srgbClr val="002060"/>
                </a:solidFill>
                <a:latin typeface="Times New Roman" panose="02020603050405020304"/>
                <a:cs typeface="Times New Roman" panose="02020603050405020304"/>
              </a:rPr>
              <a:t>Result/Outcomes</a:t>
            </a:r>
          </a:p>
        </p:txBody>
      </p:sp>
      <p:sp>
        <p:nvSpPr>
          <p:cNvPr id="134" name="Subheading"/>
          <p:cNvSpPr txBox="1"/>
          <p:nvPr/>
        </p:nvSpPr>
        <p:spPr>
          <a:xfrm>
            <a:off x="3931920" y="54864"/>
            <a:ext cx="4754880" cy="384048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000000"/>
                </a:solidFill>
                <a:latin typeface="Calibri"/>
              </a:rPr>
              <a:t>STRATEGY BENCHMARK</a:t>
            </a:r>
          </a:p>
        </p:txBody>
      </p:sp>
      <p:sp>
        <p:nvSpPr>
          <p:cNvPr id="135" name="Content Card"/>
          <p:cNvSpPr/>
          <p:nvPr/>
        </p:nvSpPr>
        <p:spPr>
          <a:xfrm>
            <a:off x="457200" y="914400"/>
            <a:ext cx="11274552" cy="5440680"/>
          </a:xfrm>
          <a:prstGeom prst="roundRect">
            <a:avLst>
              <a:gd name="adj" fmla="val 3000"/>
            </a:avLst>
          </a:prstGeom>
          <a:solidFill>
            <a:srgbClr val="EEF5FA"/>
          </a:solidFill>
          <a:ln w="19050">
            <a:solidFill>
              <a:srgbClr val="9CC3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36" name="Benchmark table"/>
          <p:cNvGraphicFramePr>
            <a:graphicFrameLocks noGrp="1"/>
          </p:cNvGraphicFramePr>
          <p:nvPr/>
        </p:nvGraphicFramePr>
        <p:xfrm>
          <a:off x="731520" y="1188720"/>
          <a:ext cx="694944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914400"/>
                <a:gridCol w="868680"/>
                <a:gridCol w="960120"/>
                <a:gridCol w="960120"/>
                <a:gridCol w="1143000"/>
              </a:tblGrid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Strategy</a:t>
                      </a:r>
                    </a:p>
                  </a:txBody>
                  <a:tcPr marL="73152" marR="73152" anchor="ctr">
                    <a:solidFill>
                      <a:srgbClr val="0B3C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Max core</a:t>
                      </a:r>
                    </a:p>
                  </a:txBody>
                  <a:tcPr marL="73152" marR="73152" anchor="ctr">
                    <a:solidFill>
                      <a:srgbClr val="0B3C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&gt; 35°C</a:t>
                      </a:r>
                    </a:p>
                  </a:txBody>
                  <a:tcPr marL="73152" marR="73152" anchor="ctr">
                    <a:solidFill>
                      <a:srgbClr val="0B3C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Energy</a:t>
                      </a:r>
                    </a:p>
                  </a:txBody>
                  <a:tcPr marL="73152" marR="73152" anchor="ctr">
                    <a:solidFill>
                      <a:srgbClr val="0B3C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Saving</a:t>
                      </a:r>
                    </a:p>
                  </a:txBody>
                  <a:tcPr marL="73152" marR="73152" anchor="ctr">
                    <a:solidFill>
                      <a:srgbClr val="0B3C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Wear score</a:t>
                      </a:r>
                    </a:p>
                  </a:txBody>
                  <a:tcPr marL="73152" marR="73152" anchor="ctr">
                    <a:solidFill>
                      <a:srgbClr val="0B3C5D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933"/>
                          </a:solidFill>
                          <a:latin typeface="Calibri"/>
                        </a:rPr>
                        <a:t>Uncontrolled (Passive)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933"/>
                          </a:solidFill>
                          <a:latin typeface="Calibri"/>
                        </a:rPr>
                        <a:t>44.2°C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933"/>
                          </a:solidFill>
                          <a:latin typeface="Calibri"/>
                        </a:rPr>
                        <a:t>58.4%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933"/>
                          </a:solidFill>
                          <a:latin typeface="Calibri"/>
                        </a:rPr>
                        <a:t>0.00 Wh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933"/>
                          </a:solidFill>
                          <a:latin typeface="Calibri"/>
                        </a:rPr>
                        <a:t>--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933"/>
                          </a:solidFill>
                          <a:latin typeface="Calibri"/>
                        </a:rPr>
                        <a:t>0.0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933"/>
                          </a:solidFill>
                          <a:latin typeface="Calibri"/>
                        </a:rPr>
                        <a:t>Hysteresis (Bang-Bang)</a:t>
                      </a:r>
                    </a:p>
                  </a:txBody>
                  <a:tcPr marL="73152" marR="73152" anchor="ctr">
                    <a:solidFill>
                      <a:srgbClr val="F4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933"/>
                          </a:solidFill>
                          <a:latin typeface="Calibri"/>
                        </a:rPr>
                        <a:t>36.8°C</a:t>
                      </a:r>
                    </a:p>
                  </a:txBody>
                  <a:tcPr marL="73152" marR="73152" anchor="ctr">
                    <a:solidFill>
                      <a:srgbClr val="F4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933"/>
                          </a:solidFill>
                          <a:latin typeface="Calibri"/>
                        </a:rPr>
                        <a:t>14.2%</a:t>
                      </a:r>
                    </a:p>
                  </a:txBody>
                  <a:tcPr marL="73152" marR="73152" anchor="ctr">
                    <a:solidFill>
                      <a:srgbClr val="F4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933"/>
                          </a:solidFill>
                          <a:latin typeface="Calibri"/>
                        </a:rPr>
                        <a:t>1.75 Wh</a:t>
                      </a:r>
                    </a:p>
                  </a:txBody>
                  <a:tcPr marL="73152" marR="73152" anchor="ctr">
                    <a:solidFill>
                      <a:srgbClr val="F4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933"/>
                          </a:solidFill>
                          <a:latin typeface="Calibri"/>
                        </a:rPr>
                        <a:t>Reference</a:t>
                      </a:r>
                    </a:p>
                  </a:txBody>
                  <a:tcPr marL="73152" marR="73152" anchor="ctr">
                    <a:solidFill>
                      <a:srgbClr val="F4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933"/>
                          </a:solidFill>
                          <a:latin typeface="Calibri"/>
                        </a:rPr>
                        <a:t>14.2 High</a:t>
                      </a:r>
                    </a:p>
                  </a:txBody>
                  <a:tcPr marL="73152" marR="73152" anchor="ctr">
                    <a:solidFill>
                      <a:srgbClr val="F4F9FC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933"/>
                          </a:solidFill>
                          <a:latin typeface="Calibri"/>
                        </a:rPr>
                        <a:t>Closed-Loop PID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933"/>
                          </a:solidFill>
                          <a:latin typeface="Calibri"/>
                        </a:rPr>
                        <a:t>33.9°C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933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933"/>
                          </a:solidFill>
                          <a:latin typeface="Calibri"/>
                        </a:rPr>
                        <a:t>0.92 Wh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933"/>
                          </a:solidFill>
                          <a:latin typeface="Calibri"/>
                        </a:rPr>
                        <a:t>+47.4%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933"/>
                          </a:solidFill>
                          <a:latin typeface="Calibri"/>
                        </a:rPr>
                        <a:t>6.8 Med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F2933"/>
                          </a:solidFill>
                          <a:latin typeface="Calibri"/>
                        </a:rPr>
                        <a:t>ML Look-Ahead (MPC)</a:t>
                      </a:r>
                    </a:p>
                  </a:txBody>
                  <a:tcPr marL="73152" marR="73152" anchor="ctr">
                    <a:solidFill>
                      <a:srgbClr val="D6EF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2933"/>
                          </a:solidFill>
                          <a:latin typeface="Calibri"/>
                        </a:rPr>
                        <a:t>31.8°C</a:t>
                      </a:r>
                    </a:p>
                  </a:txBody>
                  <a:tcPr marL="73152" marR="73152" anchor="ctr">
                    <a:solidFill>
                      <a:srgbClr val="D6EF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2933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 marL="73152" marR="73152" anchor="ctr">
                    <a:solidFill>
                      <a:srgbClr val="D6EF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2933"/>
                          </a:solidFill>
                          <a:latin typeface="Calibri"/>
                        </a:rPr>
                        <a:t>0.41 Wh</a:t>
                      </a:r>
                    </a:p>
                  </a:txBody>
                  <a:tcPr marL="73152" marR="73152" anchor="ctr">
                    <a:solidFill>
                      <a:srgbClr val="D6EF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2933"/>
                          </a:solidFill>
                          <a:latin typeface="Calibri"/>
                        </a:rPr>
                        <a:t>+76.5%</a:t>
                      </a:r>
                    </a:p>
                  </a:txBody>
                  <a:tcPr marL="73152" marR="73152" anchor="ctr">
                    <a:solidFill>
                      <a:srgbClr val="D6EF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2933"/>
                          </a:solidFill>
                          <a:latin typeface="Calibri"/>
                        </a:rPr>
                        <a:t>3.2 Smooth</a:t>
                      </a:r>
                    </a:p>
                  </a:txBody>
                  <a:tcPr marL="73152" marR="73152" anchor="ctr">
                    <a:solidFill>
                      <a:srgbClr val="D6EFE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7" name="Chart Max core temperature (°C)"/>
          <p:cNvGraphicFramePr>
            <a:graphicFrameLocks noGrp="1"/>
          </p:cNvGraphicFramePr>
          <p:nvPr/>
        </p:nvGraphicFramePr>
        <p:xfrm>
          <a:off x="7863840" y="1143000"/>
          <a:ext cx="3611880" cy="3200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8" name="Table caption"/>
          <p:cNvSpPr txBox="1"/>
          <p:nvPr/>
        </p:nvSpPr>
        <p:spPr>
          <a:xfrm>
            <a:off x="731520" y="4370832"/>
            <a:ext cx="68580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0" i="1">
                <a:solidFill>
                  <a:srgbClr val="52606D"/>
                </a:solidFill>
                <a:latin typeface="Calibri"/>
              </a:rPr>
              <a:t>Values as shown in the dashboard benchmark table.</a:t>
            </a:r>
          </a:p>
        </p:txBody>
      </p:sp>
      <p:sp>
        <p:nvSpPr>
          <p:cNvPr id="139" name="Insight box"/>
          <p:cNvSpPr/>
          <p:nvPr/>
        </p:nvSpPr>
        <p:spPr>
          <a:xfrm>
            <a:off x="731520" y="4800600"/>
            <a:ext cx="10725912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B3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/>
            <a:r>
              <a:rPr sz="1700" b="1" i="0">
                <a:solidFill>
                  <a:srgbClr val="0B3C5D"/>
                </a:solidFill>
                <a:latin typeface="Calibri"/>
              </a:rPr>
              <a:t>Optimization insight: </a:t>
            </a:r>
            <a:r>
              <a:rPr sz="1700" b="0" i="0">
                <a:solidFill>
                  <a:srgbClr val="1F2933"/>
                </a:solidFill>
                <a:latin typeface="Calibri"/>
              </a:rPr>
              <a:t>pre-cooling at a moderate flow rate uses the pump affinity law, P ∝ u³. It removes the heat spikes and cuts parasitic energy by over 75% compared with bang-bang cooling.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Title"/>
          <p:cNvSpPr txBox="1"/>
          <p:nvPr/>
        </p:nvSpPr>
        <p:spPr>
          <a:xfrm>
            <a:off x="146304" y="100584"/>
            <a:ext cx="9000000" cy="3936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 lnSpcReduction="10000"/>
          </a:bodyPr>
          <a:lstStyle/>
          <a:p>
            <a:pPr algn="l"/>
            <a:r>
              <a:rPr lang="en-US" sz="2200" b="1" u="sng">
                <a:solidFill>
                  <a:srgbClr val="002060"/>
                </a:solidFill>
                <a:latin typeface="Times New Roman" panose="02020603050405020304"/>
                <a:cs typeface="Times New Roman" panose="02020603050405020304"/>
              </a:rPr>
              <a:t>Result/Outcomes</a:t>
            </a:r>
          </a:p>
        </p:txBody>
      </p:sp>
      <p:sp>
        <p:nvSpPr>
          <p:cNvPr id="134" name="Subheading"/>
          <p:cNvSpPr txBox="1"/>
          <p:nvPr/>
        </p:nvSpPr>
        <p:spPr>
          <a:xfrm>
            <a:off x="3931920" y="54864"/>
            <a:ext cx="4754880" cy="384048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000000"/>
                </a:solidFill>
                <a:latin typeface="Calibri"/>
              </a:rPr>
              <a:t>PUMP AFFINITY LAW &amp; ENERGY SAVINGS</a:t>
            </a:r>
          </a:p>
        </p:txBody>
      </p:sp>
      <p:sp>
        <p:nvSpPr>
          <p:cNvPr id="135" name="Content Card"/>
          <p:cNvSpPr/>
          <p:nvPr/>
        </p:nvSpPr>
        <p:spPr>
          <a:xfrm>
            <a:off x="457200" y="914400"/>
            <a:ext cx="11274552" cy="5440680"/>
          </a:xfrm>
          <a:prstGeom prst="roundRect">
            <a:avLst>
              <a:gd name="adj" fmla="val 3000"/>
            </a:avLst>
          </a:prstGeom>
          <a:solidFill>
            <a:srgbClr val="EEF5FA"/>
          </a:solidFill>
          <a:ln w="19050">
            <a:solidFill>
              <a:srgbClr val="9CC3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36" name="Chart pump power"/>
          <p:cNvGraphicFramePr>
            <a:graphicFrameLocks noGrp="1"/>
          </p:cNvGraphicFramePr>
          <p:nvPr/>
        </p:nvGraphicFramePr>
        <p:xfrm>
          <a:off x="731520" y="1143000"/>
          <a:ext cx="5486400" cy="393192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graphicFrame>
        <p:nvGraphicFramePr>
          <p:cNvPr id="137" name="Chart Parasitic pump energy (Wh)"/>
          <p:cNvGraphicFramePr>
            <a:graphicFrameLocks noGrp="1"/>
          </p:cNvGraphicFramePr>
          <p:nvPr/>
        </p:nvGraphicFramePr>
        <p:xfrm>
          <a:off x="6446520" y="1143000"/>
          <a:ext cx="5029200" cy="393192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38" name="Takeaway box"/>
          <p:cNvSpPr/>
          <p:nvPr/>
        </p:nvSpPr>
        <p:spPr>
          <a:xfrm>
            <a:off x="731520" y="5303520"/>
            <a:ext cx="10725912" cy="7772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0B3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" rIns="274320" bIns="36576"/>
          <a:lstStyle/>
          <a:p>
            <a:pPr algn="ctr"/>
            <a:r>
              <a:rPr sz="1700" b="1" i="0">
                <a:solidFill>
                  <a:srgbClr val="0B3C5D"/>
                </a:solidFill>
                <a:latin typeface="Calibri"/>
              </a:rPr>
              <a:t>Takeaway: </a:t>
            </a:r>
            <a:r>
              <a:rPr sz="1700" b="0" i="0">
                <a:solidFill>
                  <a:srgbClr val="1F2933"/>
                </a:solidFill>
                <a:latin typeface="Calibri"/>
              </a:rPr>
              <a:t>half flow needs only 12.5% of full pump power, so gentle early cooling beats late full-flow bursts.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Title"/>
          <p:cNvSpPr txBox="1"/>
          <p:nvPr/>
        </p:nvSpPr>
        <p:spPr>
          <a:xfrm>
            <a:off x="146304" y="100584"/>
            <a:ext cx="9000000" cy="3936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 lnSpcReduction="10000"/>
          </a:bodyPr>
          <a:lstStyle/>
          <a:p>
            <a:r>
              <a:rPr lang="en-US" sz="2200" b="1" u="sng">
                <a:solidFill>
                  <a:srgbClr val="002060"/>
                </a:solidFill>
                <a:latin typeface="Times New Roman" panose="02020603050405020304"/>
                <a:cs typeface="Times New Roman" panose="02020603050405020304"/>
              </a:rPr>
              <a:t>Conclusion</a:t>
            </a:r>
            <a:endParaRPr lang="en-US" sz="2200" b="1" u="sng" dirty="0">
              <a:solidFill>
                <a:srgbClr val="00206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35" name="Content Card"/>
          <p:cNvSpPr/>
          <p:nvPr/>
        </p:nvSpPr>
        <p:spPr>
          <a:xfrm>
            <a:off x="457200" y="914400"/>
            <a:ext cx="11274552" cy="5440680"/>
          </a:xfrm>
          <a:prstGeom prst="roundRect">
            <a:avLst>
              <a:gd name="adj" fmla="val 3000"/>
            </a:avLst>
          </a:prstGeom>
          <a:solidFill>
            <a:srgbClr val="EEF5FA"/>
          </a:solidFill>
          <a:ln w="19050">
            <a:solidFill>
              <a:srgbClr val="9CC3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Conclusion header"/>
          <p:cNvSpPr/>
          <p:nvPr/>
        </p:nvSpPr>
        <p:spPr>
          <a:xfrm>
            <a:off x="2377440" y="1188720"/>
            <a:ext cx="740664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B3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 rIns="137160" bIns="91440"/>
          <a:lstStyle/>
          <a:p>
            <a:pPr algn="ctr"/>
            <a:r>
              <a:rPr sz="1900" b="1" i="0">
                <a:solidFill>
                  <a:srgbClr val="0B3C5D"/>
                </a:solidFill>
                <a:latin typeface="Times New Roman"/>
              </a:rPr>
              <a:t>EV BATTERY THERMAL &amp; COOLING OPTIMIZATION</a:t>
            </a:r>
          </a:p>
        </p:txBody>
      </p:sp>
      <p:sp>
        <p:nvSpPr>
          <p:cNvPr id="137" name="Conclusion block"/>
          <p:cNvSpPr/>
          <p:nvPr/>
        </p:nvSpPr>
        <p:spPr>
          <a:xfrm>
            <a:off x="1188720" y="2148840"/>
            <a:ext cx="9811512" cy="2926080"/>
          </a:xfrm>
          <a:prstGeom prst="roundRect">
            <a:avLst>
              <a:gd name="adj" fmla="val 6000"/>
            </a:avLst>
          </a:prstGeom>
          <a:solidFill>
            <a:srgbClr val="0B3C5D"/>
          </a:solidFill>
          <a:ln w="15875">
            <a:solidFill>
              <a:srgbClr val="062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37160" rIns="365760" bIns="91440"/>
          <a:lstStyle/>
          <a:p>
            <a:pPr algn="l" marL="228600" indent="-228600">
              <a:spcAft>
                <a:spcPts val="1000"/>
              </a:spcAft>
              <a:buFont typeface="Arial"/>
              <a:buChar char="•"/>
            </a:pPr>
            <a:r>
              <a:rPr sz="1800" b="0" i="0">
                <a:solidFill>
                  <a:srgbClr val="FFFFFF"/>
                </a:solidFill>
                <a:latin typeface="Calibri"/>
              </a:rPr>
              <a:t>Models a 21700 cell with a two-state thermal model and Bernardi heat generation.</a:t>
            </a:r>
          </a:p>
          <a:p>
            <a:pPr algn="l" marL="228600" indent="-228600">
              <a:spcAft>
                <a:spcPts val="1000"/>
              </a:spcAft>
              <a:buFont typeface="Arial"/>
              <a:buChar char="•"/>
            </a:pPr>
            <a:r>
              <a:rPr sz="1800" b="0" i="0">
                <a:solidFill>
                  <a:srgbClr val="FFFFFF"/>
                </a:solidFill>
                <a:latin typeface="Calibri"/>
              </a:rPr>
              <a:t>Compares Passive, Bang-Bang, PID and ML Look-Ahead cooling on identical loads.</a:t>
            </a:r>
          </a:p>
          <a:p>
            <a:pPr algn="l" marL="228600" indent="-228600">
              <a:spcAft>
                <a:spcPts val="1000"/>
              </a:spcAft>
              <a:buFont typeface="Arial"/>
              <a:buChar char="•"/>
            </a:pPr>
            <a:r>
              <a:rPr sz="1800" b="0" i="0">
                <a:solidFill>
                  <a:srgbClr val="FFFFFF"/>
                </a:solidFill>
                <a:latin typeface="Calibri"/>
              </a:rPr>
              <a:t>ML look-ahead holds the core at 31.8°C with no time above 35°C.</a:t>
            </a:r>
          </a:p>
          <a:p>
            <a:pPr algn="l" marL="228600" indent="-228600">
              <a:spcAft>
                <a:spcPts val="1000"/>
              </a:spcAft>
              <a:buFont typeface="Arial"/>
              <a:buChar char="•"/>
            </a:pPr>
            <a:r>
              <a:rPr sz="1800" b="0" i="0">
                <a:solidFill>
                  <a:srgbClr val="FFFFFF"/>
                </a:solidFill>
                <a:latin typeface="Calibri"/>
              </a:rPr>
              <a:t>Pre-cooling cuts parasitic pump energy by 76.5% versus bang-bang.</a:t>
            </a:r>
          </a:p>
          <a:p>
            <a:pPr algn="l" marL="228600" indent="-228600">
              <a:spcAft>
                <a:spcPts val="1000"/>
              </a:spcAft>
              <a:buFont typeface="Arial"/>
              <a:buChar char="•"/>
            </a:pPr>
            <a:r>
              <a:rPr sz="1800" b="0" i="0">
                <a:solidFill>
                  <a:srgbClr val="FFFFFF"/>
                </a:solidFill>
                <a:latin typeface="Calibri"/>
              </a:rPr>
              <a:t>Gives engineers and students a real-time, interactive thermal tool.</a:t>
            </a:r>
          </a:p>
        </p:txBody>
      </p:sp>
      <p:sp>
        <p:nvSpPr>
          <p:cNvPr id="138" name="Future goal strip"/>
          <p:cNvSpPr/>
          <p:nvPr/>
        </p:nvSpPr>
        <p:spPr>
          <a:xfrm>
            <a:off x="1188720" y="5349240"/>
            <a:ext cx="9811512" cy="7772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0B3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36576" rIns="228600" bIns="36576"/>
          <a:lstStyle/>
          <a:p>
            <a:pPr algn="ctr"/>
            <a:r>
              <a:rPr sz="1600" b="1" i="0">
                <a:solidFill>
                  <a:srgbClr val="0B3C5D"/>
                </a:solidFill>
                <a:latin typeface="Calibri"/>
              </a:rPr>
              <a:t>Future Goal: </a:t>
            </a:r>
            <a:r>
              <a:rPr sz="1600" b="0" i="0">
                <a:solidFill>
                  <a:srgbClr val="1F2933"/>
                </a:solidFill>
                <a:latin typeface="Calibri"/>
              </a:rPr>
              <a:t>validate against real cell data and replace the rule-based look-ahead with a trained forecaster.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itle"/>
          <p:cNvSpPr txBox="1"/>
          <p:nvPr/>
        </p:nvSpPr>
        <p:spPr>
          <a:xfrm>
            <a:off x="146304" y="100584"/>
            <a:ext cx="9000000" cy="3936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 lnSpcReduction="10000"/>
          </a:bodyPr>
          <a:lstStyle/>
          <a:p>
            <a:r>
              <a:rPr lang="en-US" sz="2200" b="1" u="sng" dirty="0">
                <a:solidFill>
                  <a:srgbClr val="002060"/>
                </a:solidFill>
                <a:latin typeface="Times New Roman" panose="02020603050405020304"/>
                <a:cs typeface="Times New Roman" panose="02020603050405020304"/>
              </a:rPr>
              <a:t>Future perspective</a:t>
            </a:r>
          </a:p>
        </p:txBody>
      </p:sp>
      <p:sp>
        <p:nvSpPr>
          <p:cNvPr id="137" name="Content Card"/>
          <p:cNvSpPr/>
          <p:nvPr/>
        </p:nvSpPr>
        <p:spPr>
          <a:xfrm>
            <a:off x="457200" y="914400"/>
            <a:ext cx="11274552" cy="5440680"/>
          </a:xfrm>
          <a:prstGeom prst="roundRect">
            <a:avLst>
              <a:gd name="adj" fmla="val 3000"/>
            </a:avLst>
          </a:prstGeom>
          <a:solidFill>
            <a:srgbClr val="EEF5FA"/>
          </a:solidFill>
          <a:ln w="19050">
            <a:solidFill>
              <a:srgbClr val="9CC3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Future bullets"/>
          <p:cNvSpPr txBox="1"/>
          <p:nvPr/>
        </p:nvSpPr>
        <p:spPr>
          <a:xfrm>
            <a:off x="731520" y="1143000"/>
            <a:ext cx="6126480" cy="40233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 marL="228600" indent="-228600">
              <a:spcAft>
                <a:spcPts val="1200"/>
              </a:spcAft>
              <a:buFont typeface="Arial"/>
              <a:buChar char="•"/>
            </a:pPr>
            <a:r>
              <a:rPr sz="1700" b="1" i="0">
                <a:solidFill>
                  <a:srgbClr val="0B3C5D"/>
                </a:solidFill>
                <a:latin typeface="Calibri"/>
              </a:rPr>
              <a:t>Real Cell Validation – </a:t>
            </a:r>
            <a:r>
              <a:rPr sz="1700" b="0" i="0">
                <a:solidFill>
                  <a:srgbClr val="1F2933"/>
                </a:solidFill>
                <a:latin typeface="Calibri"/>
              </a:rPr>
              <a:t>Fit the model to measured NASA B0005 and thermistor data.</a:t>
            </a:r>
          </a:p>
          <a:p>
            <a:pPr algn="l" marL="228600" indent="-228600">
              <a:spcAft>
                <a:spcPts val="1200"/>
              </a:spcAft>
              <a:buFont typeface="Arial"/>
              <a:buChar char="•"/>
            </a:pPr>
            <a:r>
              <a:rPr sz="1700" b="1" i="0">
                <a:solidFill>
                  <a:srgbClr val="0B3C5D"/>
                </a:solidFill>
                <a:latin typeface="Calibri"/>
              </a:rPr>
              <a:t>Trained Forecaster – </a:t>
            </a:r>
            <a:r>
              <a:rPr sz="1700" b="0" i="0">
                <a:solidFill>
                  <a:srgbClr val="1F2933"/>
                </a:solidFill>
                <a:latin typeface="Calibri"/>
              </a:rPr>
              <a:t>Replace the rule-based look-ahead with a learned model.</a:t>
            </a:r>
          </a:p>
          <a:p>
            <a:pPr algn="l" marL="228600" indent="-228600">
              <a:spcAft>
                <a:spcPts val="1200"/>
              </a:spcAft>
              <a:buFont typeface="Arial"/>
              <a:buChar char="•"/>
            </a:pPr>
            <a:r>
              <a:rPr sz="1700" b="1" i="0">
                <a:solidFill>
                  <a:srgbClr val="0B3C5D"/>
                </a:solidFill>
                <a:latin typeface="Calibri"/>
              </a:rPr>
              <a:t>Pack-Level Model – </a:t>
            </a:r>
            <a:r>
              <a:rPr sz="1700" b="0" i="0">
                <a:solidFill>
                  <a:srgbClr val="1F2933"/>
                </a:solidFill>
                <a:latin typeface="Calibri"/>
              </a:rPr>
              <a:t>Extend from one cell to a multi-cell pack and cold plate.</a:t>
            </a:r>
          </a:p>
          <a:p>
            <a:pPr algn="l" marL="228600" indent="-228600">
              <a:spcAft>
                <a:spcPts val="1200"/>
              </a:spcAft>
              <a:buFont typeface="Arial"/>
              <a:buChar char="•"/>
            </a:pPr>
            <a:r>
              <a:rPr sz="1700" b="1" i="0">
                <a:solidFill>
                  <a:srgbClr val="0B3C5D"/>
                </a:solidFill>
                <a:latin typeface="Calibri"/>
              </a:rPr>
              <a:t>Hardware-in-the-Loop – </a:t>
            </a:r>
            <a:r>
              <a:rPr sz="1700" b="0" i="0">
                <a:solidFill>
                  <a:srgbClr val="1F2933"/>
                </a:solidFill>
                <a:latin typeface="Calibri"/>
              </a:rPr>
              <a:t>Drive a real pump and BMS with the controller.</a:t>
            </a:r>
          </a:p>
          <a:p>
            <a:pPr algn="l" marL="228600" indent="-228600">
              <a:spcAft>
                <a:spcPts val="1200"/>
              </a:spcAft>
              <a:buFont typeface="Arial"/>
              <a:buChar char="•"/>
            </a:pPr>
            <a:r>
              <a:rPr sz="1700" b="1" i="0">
                <a:solidFill>
                  <a:srgbClr val="0B3C5D"/>
                </a:solidFill>
                <a:latin typeface="Calibri"/>
              </a:rPr>
              <a:t>Aging-Aware Control – </a:t>
            </a:r>
            <a:r>
              <a:rPr sz="1700" b="0" i="0">
                <a:solidFill>
                  <a:srgbClr val="1F2933"/>
                </a:solidFill>
                <a:latin typeface="Calibri"/>
              </a:rPr>
              <a:t>Adapt cooling as internal resistance grows with cycles.</a:t>
            </a:r>
          </a:p>
          <a:p>
            <a:pPr algn="l" marL="228600" indent="-228600">
              <a:spcAft>
                <a:spcPts val="1200"/>
              </a:spcAft>
              <a:buFont typeface="Arial"/>
              <a:buChar char="•"/>
            </a:pPr>
            <a:r>
              <a:rPr sz="1700" b="1" i="0">
                <a:solidFill>
                  <a:srgbClr val="0B3C5D"/>
                </a:solidFill>
                <a:latin typeface="Calibri"/>
              </a:rPr>
              <a:t>Fast-Charge Limits – </a:t>
            </a:r>
            <a:r>
              <a:rPr sz="1700" b="0" i="0">
                <a:solidFill>
                  <a:srgbClr val="1F2933"/>
                </a:solidFill>
                <a:latin typeface="Calibri"/>
              </a:rPr>
              <a:t>Tie charge-rate limits to cell temperature.</a:t>
            </a:r>
          </a:p>
        </p:txBody>
      </p:sp>
      <p:sp>
        <p:nvSpPr>
          <p:cNvPr id="139" name="Future tile 1"/>
          <p:cNvSpPr/>
          <p:nvPr/>
        </p:nvSpPr>
        <p:spPr>
          <a:xfrm>
            <a:off x="7132320" y="1188720"/>
            <a:ext cx="2011680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B3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0" name="Icon FaDatabase" descr="FaDatabase_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86700" y="1348740"/>
            <a:ext cx="502920" cy="502920"/>
          </a:xfrm>
          <a:prstGeom prst="rect">
            <a:avLst/>
          </a:prstGeom>
        </p:spPr>
      </p:pic>
      <p:sp>
        <p:nvSpPr>
          <p:cNvPr id="141" name="Future tile text 1"/>
          <p:cNvSpPr txBox="1"/>
          <p:nvPr/>
        </p:nvSpPr>
        <p:spPr>
          <a:xfrm>
            <a:off x="7132320" y="1938528"/>
            <a:ext cx="2011680" cy="4114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400" b="1" i="0">
                <a:solidFill>
                  <a:srgbClr val="0B3C5D"/>
                </a:solidFill>
                <a:latin typeface="Calibri"/>
              </a:rPr>
              <a:t>Real Data</a:t>
            </a:r>
          </a:p>
        </p:txBody>
      </p:sp>
      <p:sp>
        <p:nvSpPr>
          <p:cNvPr id="142" name="Future tile 2"/>
          <p:cNvSpPr/>
          <p:nvPr/>
        </p:nvSpPr>
        <p:spPr>
          <a:xfrm>
            <a:off x="9281160" y="1188720"/>
            <a:ext cx="2011680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B3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3" name="Icon FaBrain" descr="FaBrain_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35540" y="1348740"/>
            <a:ext cx="502920" cy="502920"/>
          </a:xfrm>
          <a:prstGeom prst="rect">
            <a:avLst/>
          </a:prstGeom>
        </p:spPr>
      </p:pic>
      <p:sp>
        <p:nvSpPr>
          <p:cNvPr id="144" name="Future tile text 2"/>
          <p:cNvSpPr txBox="1"/>
          <p:nvPr/>
        </p:nvSpPr>
        <p:spPr>
          <a:xfrm>
            <a:off x="9281160" y="1938528"/>
            <a:ext cx="2011680" cy="4114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400" b="1" i="0">
                <a:solidFill>
                  <a:srgbClr val="0B3C5D"/>
                </a:solidFill>
                <a:latin typeface="Calibri"/>
              </a:rPr>
              <a:t>ML Forecaster</a:t>
            </a:r>
          </a:p>
        </p:txBody>
      </p:sp>
      <p:sp>
        <p:nvSpPr>
          <p:cNvPr id="145" name="Future tile 3"/>
          <p:cNvSpPr/>
          <p:nvPr/>
        </p:nvSpPr>
        <p:spPr>
          <a:xfrm>
            <a:off x="7132320" y="2560320"/>
            <a:ext cx="2011680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B3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6" name="Icon FaCubes" descr="FaCubes_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86700" y="2720340"/>
            <a:ext cx="502920" cy="502920"/>
          </a:xfrm>
          <a:prstGeom prst="rect">
            <a:avLst/>
          </a:prstGeom>
        </p:spPr>
      </p:pic>
      <p:sp>
        <p:nvSpPr>
          <p:cNvPr id="147" name="Future tile text 3"/>
          <p:cNvSpPr txBox="1"/>
          <p:nvPr/>
        </p:nvSpPr>
        <p:spPr>
          <a:xfrm>
            <a:off x="7132320" y="3310127"/>
            <a:ext cx="2011680" cy="4114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400" b="1" i="0">
                <a:solidFill>
                  <a:srgbClr val="0B3C5D"/>
                </a:solidFill>
                <a:latin typeface="Calibri"/>
              </a:rPr>
              <a:t>Pack Model</a:t>
            </a:r>
          </a:p>
        </p:txBody>
      </p:sp>
      <p:sp>
        <p:nvSpPr>
          <p:cNvPr id="148" name="Future tile 4"/>
          <p:cNvSpPr/>
          <p:nvPr/>
        </p:nvSpPr>
        <p:spPr>
          <a:xfrm>
            <a:off x="9281160" y="2560320"/>
            <a:ext cx="2011680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B3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9" name="Icon FaMicrochip" descr="FaMicrochip_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35540" y="2720340"/>
            <a:ext cx="502920" cy="502920"/>
          </a:xfrm>
          <a:prstGeom prst="rect">
            <a:avLst/>
          </a:prstGeom>
        </p:spPr>
      </p:pic>
      <p:sp>
        <p:nvSpPr>
          <p:cNvPr id="150" name="Future tile text 4"/>
          <p:cNvSpPr txBox="1"/>
          <p:nvPr/>
        </p:nvSpPr>
        <p:spPr>
          <a:xfrm>
            <a:off x="9281160" y="3310127"/>
            <a:ext cx="2011680" cy="4114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400" b="1" i="0">
                <a:solidFill>
                  <a:srgbClr val="0B3C5D"/>
                </a:solidFill>
                <a:latin typeface="Calibri"/>
              </a:rPr>
              <a:t>HIL Testing</a:t>
            </a:r>
          </a:p>
        </p:txBody>
      </p:sp>
      <p:sp>
        <p:nvSpPr>
          <p:cNvPr id="151" name="Future tile 5"/>
          <p:cNvSpPr/>
          <p:nvPr/>
        </p:nvSpPr>
        <p:spPr>
          <a:xfrm>
            <a:off x="7132320" y="3931920"/>
            <a:ext cx="2011680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B3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2" name="Icon FaSyncAlt" descr="FaSyncAlt_t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86700" y="4091939"/>
            <a:ext cx="502920" cy="502920"/>
          </a:xfrm>
          <a:prstGeom prst="rect">
            <a:avLst/>
          </a:prstGeom>
        </p:spPr>
      </p:pic>
      <p:sp>
        <p:nvSpPr>
          <p:cNvPr id="153" name="Future tile text 5"/>
          <p:cNvSpPr txBox="1"/>
          <p:nvPr/>
        </p:nvSpPr>
        <p:spPr>
          <a:xfrm>
            <a:off x="7132320" y="4681728"/>
            <a:ext cx="2011680" cy="4114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400" b="1" i="0">
                <a:solidFill>
                  <a:srgbClr val="0B3C5D"/>
                </a:solidFill>
                <a:latin typeface="Calibri"/>
              </a:rPr>
              <a:t>Aging-Aware</a:t>
            </a:r>
          </a:p>
        </p:txBody>
      </p:sp>
      <p:sp>
        <p:nvSpPr>
          <p:cNvPr id="154" name="Future tile 6"/>
          <p:cNvSpPr/>
          <p:nvPr/>
        </p:nvSpPr>
        <p:spPr>
          <a:xfrm>
            <a:off x="9281160" y="3931920"/>
            <a:ext cx="2011680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B3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5" name="Icon FaBolt" descr="FaBolt_t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035540" y="4091939"/>
            <a:ext cx="502920" cy="502920"/>
          </a:xfrm>
          <a:prstGeom prst="rect">
            <a:avLst/>
          </a:prstGeom>
        </p:spPr>
      </p:pic>
      <p:sp>
        <p:nvSpPr>
          <p:cNvPr id="156" name="Future tile text 6"/>
          <p:cNvSpPr txBox="1"/>
          <p:nvPr/>
        </p:nvSpPr>
        <p:spPr>
          <a:xfrm>
            <a:off x="9281160" y="4681728"/>
            <a:ext cx="2011680" cy="4114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400" b="1" i="0">
                <a:solidFill>
                  <a:srgbClr val="0B3C5D"/>
                </a:solidFill>
                <a:latin typeface="Calibri"/>
              </a:rPr>
              <a:t>Fast Charge</a:t>
            </a:r>
          </a:p>
        </p:txBody>
      </p:sp>
      <p:sp>
        <p:nvSpPr>
          <p:cNvPr id="157" name="Future goal strip"/>
          <p:cNvSpPr/>
          <p:nvPr/>
        </p:nvSpPr>
        <p:spPr>
          <a:xfrm>
            <a:off x="731520" y="5486400"/>
            <a:ext cx="10725912" cy="6400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0B3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36576" rIns="228600" bIns="36576"/>
          <a:lstStyle/>
          <a:p>
            <a:pPr algn="ctr"/>
            <a:r>
              <a:rPr sz="1600" b="1" i="0">
                <a:solidFill>
                  <a:srgbClr val="0B3C5D"/>
                </a:solidFill>
                <a:latin typeface="Calibri"/>
              </a:rPr>
              <a:t>Future Goal: </a:t>
            </a:r>
            <a:r>
              <a:rPr sz="1600" b="0" i="0">
                <a:solidFill>
                  <a:srgbClr val="1F2933"/>
                </a:solidFill>
                <a:latin typeface="Calibri"/>
              </a:rPr>
              <a:t>a validated, pack-level thermal platform with a learned controller ready for real hardware.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85698" y="884264"/>
            <a:ext cx="11626035" cy="539806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Google Shape;61;g5fab984687_2_0"/>
          <p:cNvSpPr txBox="1"/>
          <p:nvPr/>
        </p:nvSpPr>
        <p:spPr>
          <a:xfrm>
            <a:off x="282878" y="723165"/>
            <a:ext cx="11382280" cy="5668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>
              <a:buSzPts val="2800"/>
            </a:pPr>
            <a:r>
              <a:rPr lang="en-US" sz="6000" b="1">
                <a:solidFill>
                  <a:srgbClr val="213163"/>
                </a:solidFill>
              </a:rPr>
              <a:t>Thank You !!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1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Blank Pag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985</Words>
  <Application>Microsoft Office PowerPoint</Application>
  <PresentationFormat>Widescreen</PresentationFormat>
  <Paragraphs>180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Times New Roman</vt:lpstr>
      <vt:lpstr>Blank Page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Dulari Bhatt</dc:creator>
  <cp:lastModifiedBy>Pugazhenthi V</cp:lastModifiedBy>
  <cp:revision>703</cp:revision>
  <dcterms:created xsi:type="dcterms:W3CDTF">2024-05-21T11:55:00Z</dcterms:created>
  <dcterms:modified xsi:type="dcterms:W3CDTF">2026-10-27T08:22:48Z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287853FF-63D2-418E-BD9A-1C9576A118F2</vt:lpwstr>
  </property>
  <property fmtid="{D5CDD505-2E9C-101B-9397-08002B2CF9AE}" pid="3" name="ArticulatePath">
    <vt:lpwstr>https://edunetfoundationorg-my.sharepoint.com/personal/kaisar_edunetfoundation_org/Documents/Task/Microsoft Shell/Skills4Future/2025-26/Template/Shell - AI 1</vt:lpwstr>
  </property>
  <property fmtid="{D5CDD505-2E9C-101B-9397-08002B2CF9AE}" pid="4" name="KSOProductBuildVer">
    <vt:lpwstr>1033-12.1.0.28099</vt:lpwstr>
  </property>
  <property fmtid="{D5CDD505-2E9C-101B-9397-08002B2CF9AE}" pid="5" name="ICV">
    <vt:lpwstr>A349764BE20246B287FB304B93945203_13</vt:lpwstr>
  </property>
</Properties>
</file>